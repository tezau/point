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6030504020204" pitchFamily="34" charset="0"/>
      <p:regular r:id="rId13"/>
      <p:bold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06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507E9-EE60-8BB9-8526-CC1F2E90E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B7076C-41A1-63D8-1A33-A23724943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1FAC40-EEDB-D426-77DF-4B22B0B7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3D3495-DEEC-52FE-87B6-47FC4B77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C3A25E-1E29-F2F0-60D5-15759F8D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7049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159B6-AD93-5620-A6E6-732AAECE8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86FE25-58B2-BE7E-D7FF-978A54863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768162-ABD4-1782-E23E-B6E632A7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8A7137-C403-021A-6CBC-893B4D668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72F14-4A4C-DA6F-4D4E-9E9B81ED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0543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5FDA1F-B7B5-304C-06A4-14447B37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E71D48-B1E4-D202-DB49-E409885A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465127-94C2-7E7C-41C3-226A3090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3B38C7-CFE3-8694-BF11-A38D7E11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4448EF-1A93-0BDB-6A55-7378BBB1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2401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EC6547-5157-4A84-4B0A-9611BA99F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4FA91-3A28-0793-F0BA-26B7626B8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98F7D5-BB36-824F-95F1-D4A80462A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C11FBC-5B6C-3128-A79D-491BCF271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719389-159C-25A6-58D7-8BB4C599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C95515-AEB2-BE64-C02B-C179D344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801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A8F29-6D8E-AB14-A55A-D91109A5D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45D8EB-CBA3-22AC-D534-DDD74E463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0478CF-55C3-1DF8-4D43-B4834D1F3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B4CFC6A-BE59-F5A8-D57A-BC4AE8382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D40F72-617D-203F-42C6-C06D43693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F958AE-0038-3544-345D-44DC949F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28F9BD2-103A-1FC3-7957-A35D5D23C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F354AF-E940-EA8D-AF13-E279380C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986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07E5A-DB4A-CC1C-F98D-B991BD28C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038C4E-66F3-92CF-9938-92CCF916B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EB7D15-D630-B54F-36A9-22BC64B4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3F00D2-2301-C46F-20EA-378FF5D3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44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0B30D27-E01E-0E58-F447-A84F3A24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4A4EE44-5CEA-D651-4BA9-1057BDF02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A237A9-D65D-F15F-13B4-214ED4DD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3388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0C968-E070-D295-8807-92173001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6FC58C-AC47-C19C-17AF-46A9CA9E4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87D5CA-782C-60CB-ADDE-900567C0D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B3057D-2C1C-0FE0-E037-88F6E890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C1B483-6FF4-D977-0C91-CC139DDC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00204C-9F82-9B7D-A375-92872249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5381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E33415-89C7-599C-1D51-EC61FC68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D98F5B-2EE0-E9B3-0EDD-379C6D7B0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69E8D6-4DC5-9777-0D41-B25368379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CBF949-8442-D393-DB98-F265CB218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895528-CE0F-FE00-7358-FF46DD54F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F3CA80-BF65-FAA0-236D-C20C37AB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2833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7F217-4039-3D05-4907-9063123A2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CC28F7-9836-CD31-9D1C-ECD001897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02BFEB-DB8E-8A58-6829-DB359B4B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FCCD04-EF30-A7EA-EB5B-4CF878862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766784-A8BD-97D7-52FC-2E6D90CA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8321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F46600-CDC0-DED5-77EF-DAFAB1925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DABA40-0EEF-0B8B-CD01-378762D0F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C2782A-FFBE-3FEB-7A30-8E75E8DE3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DDA737-FE56-A7C2-0569-807862459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D8EC6-E939-319D-14B0-2C4F2E13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4742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399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796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61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101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435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976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2662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399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429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10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54EDD-3564-6F19-6543-F1971E369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E334C1-ABDD-DA4E-BABE-D994505ED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FF295-97DF-14AD-62F3-E78AC5CF8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3E186-1CBE-4C77-BC43-AF04DA6AF129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37CE6A-D4D1-09EB-1F99-2C408377A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FEAA75-B94C-A638-2B10-9B76AF9F6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826B0-C19B-4C70-8A67-1A1CA1FF1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00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28418"/>
            <a:ext cx="7556421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Европейская модель регулирования трансграничной несостоятельности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51247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Комплексный анализ нормативно-правовой базы, концептуальных основ и механизмов координации в условиях глубокой экономической интеграции ЕС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24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32" y="3446502"/>
            <a:ext cx="10678239" cy="70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Актуальность исследования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0932" y="4491633"/>
            <a:ext cx="4198858" cy="3116342"/>
          </a:xfrm>
          <a:prstGeom prst="roundRect">
            <a:avLst>
              <a:gd name="adj" fmla="val 304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4533" y="4725233"/>
            <a:ext cx="373165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Глобализация экономики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4533" y="5567005"/>
            <a:ext cx="3731657" cy="1807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Рост трансграничных экономических связей и увеличение случаев международной несостоятельности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5771" y="4491633"/>
            <a:ext cx="4198858" cy="3116342"/>
          </a:xfrm>
          <a:prstGeom prst="roundRect">
            <a:avLst>
              <a:gd name="adj" fmla="val 304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9372" y="4725233"/>
            <a:ext cx="3242191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Единый рынок ЕС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9372" y="5213866"/>
            <a:ext cx="3731657" cy="144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Компании ведут деятельность в нескольких юрисдикциях, создавая сложные правовые коллизии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610" y="4491633"/>
            <a:ext cx="4198858" cy="3116342"/>
          </a:xfrm>
          <a:prstGeom prst="roundRect">
            <a:avLst>
              <a:gd name="adj" fmla="val 304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210" y="4725233"/>
            <a:ext cx="3383161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Баланс интересов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210" y="5213866"/>
            <a:ext cx="3731657" cy="144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Поиск равновесия между эффективностью единого производства и защитой локальных кредиторов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3901"/>
            <a:ext cx="120415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Эволюция законодательства ЕС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1896308"/>
            <a:ext cx="30480" cy="5599271"/>
          </a:xfrm>
          <a:prstGeom prst="roundRect">
            <a:avLst>
              <a:gd name="adj" fmla="val 312558"/>
            </a:avLst>
          </a:prstGeom>
          <a:solidFill>
            <a:srgbClr val="BCDBD4"/>
          </a:solidFill>
          <a:ln/>
        </p:spPr>
      </p:sp>
      <p:sp>
        <p:nvSpPr>
          <p:cNvPr id="4" name="Shape 2"/>
          <p:cNvSpPr/>
          <p:nvPr/>
        </p:nvSpPr>
        <p:spPr>
          <a:xfrm>
            <a:off x="6410087" y="213621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CDBD4"/>
          </a:solidFill>
          <a:ln/>
        </p:spPr>
      </p:sp>
      <p:sp>
        <p:nvSpPr>
          <p:cNvPr id="5" name="Shape 3"/>
          <p:cNvSpPr/>
          <p:nvPr/>
        </p:nvSpPr>
        <p:spPr>
          <a:xfrm>
            <a:off x="7060049" y="189630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5119" y="193881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3345894" y="19741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1933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2464594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Скандинавская конвенция между Данией, Исландией и Норвегией — первая попытка координации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39871" y="349710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CDBD4"/>
          </a:solidFill>
          <a:ln/>
        </p:spPr>
      </p:sp>
      <p:sp>
        <p:nvSpPr>
          <p:cNvPr id="10" name="Shape 8"/>
          <p:cNvSpPr/>
          <p:nvPr/>
        </p:nvSpPr>
        <p:spPr>
          <a:xfrm>
            <a:off x="7060049" y="32571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45119" y="32996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8449270" y="33350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49270" y="3825478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Регламент № 1346/2000 — первый наднациональный акт с едиными коллизионными нормами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410087" y="467010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CDB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0049" y="44301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5119" y="44727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3345894" y="4508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4998482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Регламент № 2015/848 (EIR Recast) — модернизация системы с новыми механизмами координации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39871" y="584311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CDB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060049" y="56032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5119" y="56457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8449270" y="56810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49270" y="6171486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Директива № 2019/1023 — первая минимальная гармонизация материального права о реструктуризации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553" y="483632"/>
            <a:ext cx="13399294" cy="109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Концепция модифицированного универсализма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5553" y="2022515"/>
            <a:ext cx="3951089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Компромисс подходов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15553" y="2528173"/>
            <a:ext cx="6485096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Европейская модель соединяет преимущества универсального и территориального подходов: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5553" y="3249097"/>
            <a:ext cx="648509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Единое центральное производство в COMI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5553" y="3591997"/>
            <a:ext cx="648509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Возможность вторичных производств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5553" y="3934897"/>
            <a:ext cx="648509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Защита локальных интересов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5553" y="4277797"/>
            <a:ext cx="648509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Эффективное управление имуществом</a:t>
            </a:r>
            <a:endParaRPr lang="en-US" sz="13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371" y="2044541"/>
            <a:ext cx="6485096" cy="6485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343" y="672227"/>
            <a:ext cx="7768114" cy="1843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Центр основных интересов должника (COMI)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4343" y="2810113"/>
            <a:ext cx="3785711" cy="2436138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 w="22860">
            <a:solidFill>
              <a:srgbClr val="26A68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51483" y="2810113"/>
            <a:ext cx="91440" cy="2436138"/>
          </a:xfrm>
          <a:prstGeom prst="roundRect">
            <a:avLst>
              <a:gd name="adj" fmla="val 90295"/>
            </a:avLst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6462355" y="3029545"/>
            <a:ext cx="308336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Определение COMI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62355" y="3454598"/>
            <a:ext cx="3278267" cy="125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Место, где должник осуществляет администрирование своих интересов на обычной основе и которое доступно третьим лицам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56627" y="2810113"/>
            <a:ext cx="3785830" cy="2436138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 w="22860">
            <a:solidFill>
              <a:srgbClr val="26A6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3767" y="2810113"/>
            <a:ext cx="91440" cy="2436138"/>
          </a:xfrm>
          <a:prstGeom prst="roundRect">
            <a:avLst>
              <a:gd name="adj" fmla="val 90295"/>
            </a:avLst>
          </a:prstGeom>
          <a:solidFill>
            <a:srgbClr val="26A688"/>
          </a:solidFill>
          <a:ln/>
        </p:spPr>
      </p:sp>
      <p:sp>
        <p:nvSpPr>
          <p:cNvPr id="10" name="Text 7"/>
          <p:cNvSpPr/>
          <p:nvPr/>
        </p:nvSpPr>
        <p:spPr>
          <a:xfrm>
            <a:off x="10444639" y="3029545"/>
            <a:ext cx="245721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Презумпция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444639" y="3454598"/>
            <a:ext cx="3278386" cy="1572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COMI предполагается в месте зарегистрированного офиса компании, но может быть опровергнута фактическим управлением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74343" y="5442823"/>
            <a:ext cx="3785711" cy="2114431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22860">
            <a:solidFill>
              <a:srgbClr val="26A6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51483" y="5442823"/>
            <a:ext cx="91440" cy="2114431"/>
          </a:xfrm>
          <a:prstGeom prst="roundRect">
            <a:avLst>
              <a:gd name="adj" fmla="val 90295"/>
            </a:avLst>
          </a:prstGeom>
          <a:solidFill>
            <a:srgbClr val="26A688"/>
          </a:solidFill>
          <a:ln/>
        </p:spPr>
      </p:sp>
      <p:sp>
        <p:nvSpPr>
          <p:cNvPr id="14" name="Text 11"/>
          <p:cNvSpPr/>
          <p:nvPr/>
        </p:nvSpPr>
        <p:spPr>
          <a:xfrm>
            <a:off x="6462355" y="5662255"/>
            <a:ext cx="3278267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Трёхмесячное правило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62355" y="6394490"/>
            <a:ext cx="3278267" cy="9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Презумпция не применяется при смене офиса в течение 3 месяцев до открытия производства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00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Ключевые принципы регулирования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420189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384119"/>
            <a:ext cx="32808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Lex fori concursus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87453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Закон государства-члена, где открыто производство, определяет условия, проведение и последствия для должника и кредиторов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420189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384119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Автоматическое признание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22886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Решения об открытии производства признаются во всех государствах-членах без специального разбирательства (res judicata)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420189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384119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Понятие установления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22886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Место непреходящей экономической деятельности с человеческими ресурсами и активами в течение 3 месяцев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257" y="728305"/>
            <a:ext cx="7705487" cy="192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Система основного и вторичного производства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57" y="2962870"/>
            <a:ext cx="1027509" cy="15128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52268" y="3168372"/>
            <a:ext cx="4088606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Основное производство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952268" y="3612713"/>
            <a:ext cx="6472476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Открывается в COMI должника, обладает универсальным эффектом на все активы в ЕС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57" y="4475678"/>
            <a:ext cx="1027509" cy="15128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52268" y="4681180"/>
            <a:ext cx="425350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Вторичное производство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952268" y="5125522"/>
            <a:ext cx="6472476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Открывается в государстве с установлением, может быть ликвидационным или реорганизационным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257" y="5988487"/>
            <a:ext cx="1027509" cy="15128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52268" y="6193988"/>
            <a:ext cx="256889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Координация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952268" y="6638330"/>
            <a:ext cx="6472476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Управляющий основного производства теряет право на активы во вторичном, но может предлагать решения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9970"/>
            <a:ext cx="112029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Координация групп компаний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85724"/>
            <a:ext cx="760428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Амбициозное нововведение Регламента 2015/848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06312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Глава V (статьи 60-77) вводит механизм координации производств членов группы компаний: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9299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Добровольная процедура по инициативе управляющего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3519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Назначение координатора судом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7739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плана координации группы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31959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Запрет на консолидацию имущества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937647"/>
            <a:ext cx="7604284" cy="1326713"/>
          </a:xfrm>
          <a:prstGeom prst="roundRect">
            <a:avLst>
              <a:gd name="adj" fmla="val 7181"/>
            </a:avLst>
          </a:prstGeom>
          <a:solidFill>
            <a:srgbClr val="C1F1E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289358"/>
            <a:ext cx="283488" cy="2268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30906" y="6221135"/>
            <a:ext cx="6640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Проблема: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 4 года применения не зафиксировано ни одного значительного случая использования механизма</a:t>
            </a:r>
            <a:endParaRPr lang="en-US" sz="17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096" y="2014061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3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1728" y="562094"/>
            <a:ext cx="7713345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Новые механизмы сотрудничества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01728" y="2146221"/>
            <a:ext cx="3754517" cy="3310890"/>
          </a:xfrm>
          <a:prstGeom prst="roundRect">
            <a:avLst>
              <a:gd name="adj" fmla="val 2593"/>
            </a:avLst>
          </a:prstGeom>
          <a:solidFill>
            <a:srgbClr val="D6F5EE"/>
          </a:solidFill>
          <a:ln w="7620">
            <a:solidFill>
              <a:srgbClr val="26A68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13659" y="2358152"/>
            <a:ext cx="613172" cy="613172"/>
          </a:xfrm>
          <a:prstGeom prst="roundRect">
            <a:avLst>
              <a:gd name="adj" fmla="val 14911127"/>
            </a:avLst>
          </a:prstGeom>
          <a:solidFill>
            <a:srgbClr val="26A68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2251" y="2526744"/>
            <a:ext cx="275868" cy="2758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13659" y="3175635"/>
            <a:ext cx="3330654" cy="63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Обмен информацией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13659" y="3936921"/>
            <a:ext cx="3330654" cy="1308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Статьи 41-44: обязанности управляющих и судов сотрудничать и обмениваться данными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160556" y="2146221"/>
            <a:ext cx="3754517" cy="3310890"/>
          </a:xfrm>
          <a:prstGeom prst="roundRect">
            <a:avLst>
              <a:gd name="adj" fmla="val 2593"/>
            </a:avLst>
          </a:prstGeom>
          <a:solidFill>
            <a:srgbClr val="D6F5EE"/>
          </a:solidFill>
          <a:ln w="7620">
            <a:solidFill>
              <a:srgbClr val="26A68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372487" y="2358152"/>
            <a:ext cx="613172" cy="613172"/>
          </a:xfrm>
          <a:prstGeom prst="roundRect">
            <a:avLst>
              <a:gd name="adj" fmla="val 14911127"/>
            </a:avLst>
          </a:prstGeom>
          <a:solidFill>
            <a:srgbClr val="26A688"/>
          </a:solidFill>
          <a:ln/>
        </p:spPr>
      </p:sp>
      <p:sp>
        <p:nvSpPr>
          <p:cNvPr id="11" name="Text 7"/>
          <p:cNvSpPr/>
          <p:nvPr/>
        </p:nvSpPr>
        <p:spPr>
          <a:xfrm>
            <a:off x="10372487" y="3175635"/>
            <a:ext cx="3330654" cy="63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Court-to-court cooperation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0372487" y="3936921"/>
            <a:ext cx="3330654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Принципы JudgeCo 2014: прямое взаимодействие судов для координации производств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01728" y="5661422"/>
            <a:ext cx="7713345" cy="2010370"/>
          </a:xfrm>
          <a:prstGeom prst="roundRect">
            <a:avLst>
              <a:gd name="adj" fmla="val 4270"/>
            </a:avLst>
          </a:prstGeom>
          <a:solidFill>
            <a:srgbClr val="D6F5EE"/>
          </a:solidFill>
          <a:ln w="7620">
            <a:solidFill>
              <a:srgbClr val="26A68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13659" y="5873353"/>
            <a:ext cx="613172" cy="613172"/>
          </a:xfrm>
          <a:prstGeom prst="roundRect">
            <a:avLst>
              <a:gd name="adj" fmla="val 14911127"/>
            </a:avLst>
          </a:prstGeom>
          <a:solidFill>
            <a:srgbClr val="26A68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2251" y="6041946"/>
            <a:ext cx="275868" cy="2758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13659" y="6690836"/>
            <a:ext cx="4749046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Взаимосвязанные регистры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413659" y="7132796"/>
            <a:ext cx="7289483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IRI 2.0 с сентября 2021: электронные регистры через портал e-Justice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6890"/>
            <a:ext cx="86316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Выводы и перспективы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027634"/>
            <a:ext cx="226814" cy="2268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2354342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2528649"/>
            <a:ext cx="36266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Эволюция системы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01906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 Регламента 1346/2000 к современной модели 2015/848 с расширенными механизмами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8548" y="2027634"/>
            <a:ext cx="226814" cy="2268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28548" y="2354342"/>
            <a:ext cx="6408063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" name="Text 5"/>
          <p:cNvSpPr/>
          <p:nvPr/>
        </p:nvSpPr>
        <p:spPr>
          <a:xfrm>
            <a:off x="7428548" y="2528649"/>
            <a:ext cx="4023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Переход приоритетов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01906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 ликвидации активов к реструктуризации и спасению жизнеспособных предприятий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170045"/>
            <a:ext cx="226814" cy="22681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93790" y="4496753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8"/>
          <p:cNvSpPr/>
          <p:nvPr/>
        </p:nvSpPr>
        <p:spPr>
          <a:xfrm>
            <a:off x="793790" y="4671060"/>
            <a:ext cx="64079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Необходимость совершенствования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51580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Координация групп компаний требует доработки для практического применения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8548" y="4170045"/>
            <a:ext cx="226814" cy="22681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28548" y="4496753"/>
            <a:ext cx="6408063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7" name="Text 11"/>
          <p:cNvSpPr/>
          <p:nvPr/>
        </p:nvSpPr>
        <p:spPr>
          <a:xfrm>
            <a:off x="7428548" y="46710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Роль практики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16147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Эффективность зависит от готовности юристов, судей и управляющих к сотрудничеству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666678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Европейская модель представляет собой сложную динамично развивающуюся систему, обеспечивающую баланс между эффективностью управления активами и защитой интересов локальных кредиторов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476</Words>
  <Application>Microsoft Office PowerPoint</Application>
  <PresentationFormat>Произвольный</PresentationFormat>
  <Paragraphs>85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Unbounded Bold</vt:lpstr>
      <vt:lpstr>Arial</vt:lpstr>
      <vt:lpstr>Aptos Display</vt:lpstr>
      <vt:lpstr>Open Sans</vt:lpstr>
      <vt:lpstr>Aptos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Tommyhellatrigger</cp:lastModifiedBy>
  <cp:revision>2</cp:revision>
  <dcterms:created xsi:type="dcterms:W3CDTF">2025-11-18T04:03:59Z</dcterms:created>
  <dcterms:modified xsi:type="dcterms:W3CDTF">2025-11-18T04:06:03Z</dcterms:modified>
</cp:coreProperties>
</file>