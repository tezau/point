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Funnel Sans" panose="020B0604020202020204" charset="0"/>
      <p:regular r:id="rId13"/>
    </p:embeddedFont>
    <p:embeddedFont>
      <p:font typeface="Mona Sans Semi Bold" panose="020B0604020202020204" charset="0"/>
      <p:regular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10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152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508744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0334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450633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67686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584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068358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441408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741433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032501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64253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513780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36016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22708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34239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02663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72694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18581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23913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00182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80605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6661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3/19/2026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13987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9" Type="http://schemas.openxmlformats.org/officeDocument/2006/relationships/image" Target="../media/image18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2.png"/><Relationship Id="rId11" Type="http://schemas.openxmlformats.org/officeDocument/2006/relationships/image" Target="../media/image27.svg"/><Relationship Id="rId5" Type="http://schemas.openxmlformats.org/officeDocument/2006/relationships/image" Target="../media/image21.sv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3504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807369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Адвокатская палата субъекта Российской Федерации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273868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Понятие, порядок образования и компетенция органов адвокатской палаты — в соответствии с Федеральным законом № 63-ФЗ «Об адвокатской деятельности и адвокатуре в Российской Федерации»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5980628"/>
            <a:ext cx="2866192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23898" y="6056233"/>
            <a:ext cx="2578775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ОРГАНИЗАЦИЯ АДВОКАТУРЫ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9259729" y="5980628"/>
            <a:ext cx="2526387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403437" y="6056233"/>
            <a:ext cx="223897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ФЗ № 63-ФЗ ОТ 31.05.2002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53264" y="507921"/>
            <a:ext cx="6191012" cy="540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Понятие и правовая природа</a:t>
            </a:r>
            <a:endParaRPr lang="en-US" sz="3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3264" y="1393388"/>
            <a:ext cx="7602855" cy="45616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85221" y="3187184"/>
            <a:ext cx="3899297" cy="973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Адвокатская палата субъекта РФ — </a:t>
            </a:r>
            <a:r>
              <a:rPr lang="en-US" sz="1350" b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негосударственная некоммерческая организация</a:t>
            </a:r>
            <a:r>
              <a:rPr lang="en-US" sz="13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, основанная на обязательном членстве адвокатов одного субъекта РФ.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1353264" y="6251019"/>
            <a:ext cx="3886795" cy="1470541"/>
          </a:xfrm>
          <a:prstGeom prst="roundRect">
            <a:avLst>
              <a:gd name="adj" fmla="val 7462"/>
            </a:avLst>
          </a:prstGeom>
          <a:solidFill>
            <a:srgbClr val="181616">
              <a:alpha val="95000"/>
            </a:srgbClr>
          </a:solidFill>
          <a:ln w="22860">
            <a:solidFill>
              <a:srgbClr val="59595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330404" y="6251019"/>
            <a:ext cx="91440" cy="1470541"/>
          </a:xfrm>
          <a:prstGeom prst="roundRect">
            <a:avLst>
              <a:gd name="adj" fmla="val 79374"/>
            </a:avLst>
          </a:prstGeom>
          <a:solidFill>
            <a:srgbClr val="FFFFFF"/>
          </a:solidFill>
          <a:ln/>
        </p:spPr>
      </p:sp>
      <p:sp>
        <p:nvSpPr>
          <p:cNvPr id="7" name="Text 4"/>
          <p:cNvSpPr/>
          <p:nvPr/>
        </p:nvSpPr>
        <p:spPr>
          <a:xfrm>
            <a:off x="1617464" y="6446639"/>
            <a:ext cx="2802493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Негосударственный статус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617464" y="6795492"/>
            <a:ext cx="3426976" cy="48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Не входит в систему органов государственной власти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371624" y="6251019"/>
            <a:ext cx="3886914" cy="1470541"/>
          </a:xfrm>
          <a:prstGeom prst="roundRect">
            <a:avLst>
              <a:gd name="adj" fmla="val 7462"/>
            </a:avLst>
          </a:prstGeom>
          <a:solidFill>
            <a:srgbClr val="181616">
              <a:alpha val="95000"/>
            </a:srgbClr>
          </a:solidFill>
          <a:ln w="22860">
            <a:solidFill>
              <a:srgbClr val="59595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348764" y="6251019"/>
            <a:ext cx="91440" cy="1470541"/>
          </a:xfrm>
          <a:prstGeom prst="roundRect">
            <a:avLst>
              <a:gd name="adj" fmla="val 79374"/>
            </a:avLst>
          </a:pr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5635823" y="6446639"/>
            <a:ext cx="2176463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Публичные функции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5635823" y="6795492"/>
            <a:ext cx="3427095" cy="730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Обеспечивает доступ граждан к квалифицированной юридической помощи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9390102" y="6251019"/>
            <a:ext cx="3886914" cy="1470541"/>
          </a:xfrm>
          <a:prstGeom prst="roundRect">
            <a:avLst>
              <a:gd name="adj" fmla="val 7462"/>
            </a:avLst>
          </a:prstGeom>
          <a:solidFill>
            <a:srgbClr val="181616">
              <a:alpha val="95000"/>
            </a:srgbClr>
          </a:solidFill>
          <a:ln w="22860">
            <a:solidFill>
              <a:srgbClr val="59595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367242" y="6251019"/>
            <a:ext cx="91440" cy="1470541"/>
          </a:xfrm>
          <a:prstGeom prst="roundRect">
            <a:avLst>
              <a:gd name="adj" fmla="val 79374"/>
            </a:avLst>
          </a:prstGeom>
          <a:solidFill>
            <a:srgbClr val="FFFFFF"/>
          </a:solidFill>
          <a:ln/>
        </p:spPr>
      </p:sp>
      <p:sp>
        <p:nvSpPr>
          <p:cNvPr id="15" name="Text 12"/>
          <p:cNvSpPr/>
          <p:nvPr/>
        </p:nvSpPr>
        <p:spPr>
          <a:xfrm>
            <a:off x="9654302" y="6446639"/>
            <a:ext cx="2519720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Обязательное членство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9654302" y="6795492"/>
            <a:ext cx="3427095" cy="48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Получение статуса адвоката в субъекте — автоматическое членство в палате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8598" y="898803"/>
            <a:ext cx="12293203" cy="11134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5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Статус юридического лица и организационные принципы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1168598" y="2292072"/>
            <a:ext cx="6076593" cy="1916668"/>
          </a:xfrm>
          <a:prstGeom prst="roundRect">
            <a:avLst>
              <a:gd name="adj" fmla="val 3904"/>
            </a:avLst>
          </a:prstGeom>
          <a:solidFill>
            <a:srgbClr val="404040"/>
          </a:solidFill>
          <a:ln w="7620">
            <a:solidFill>
              <a:srgbClr val="59595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54336" y="2477810"/>
            <a:ext cx="534472" cy="534472"/>
          </a:xfrm>
          <a:prstGeom prst="roundRect">
            <a:avLst>
              <a:gd name="adj" fmla="val 17106763"/>
            </a:avLst>
          </a:prstGeom>
          <a:solidFill>
            <a:srgbClr val="FFFFF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01259" y="2624733"/>
            <a:ext cx="240506" cy="24050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54336" y="3152180"/>
            <a:ext cx="2226945" cy="278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Юридическое лицо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354336" y="3514368"/>
            <a:ext cx="5705118" cy="508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Самостоятельный баланс, банковские счета, печать, штампы и бланки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385090" y="2292072"/>
            <a:ext cx="6076712" cy="1916668"/>
          </a:xfrm>
          <a:prstGeom prst="roundRect">
            <a:avLst>
              <a:gd name="adj" fmla="val 3904"/>
            </a:avLst>
          </a:prstGeom>
          <a:solidFill>
            <a:srgbClr val="404040"/>
          </a:solidFill>
          <a:ln w="7620">
            <a:solidFill>
              <a:srgbClr val="59595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570827" y="2477810"/>
            <a:ext cx="534472" cy="534472"/>
          </a:xfrm>
          <a:prstGeom prst="roundRect">
            <a:avLst>
              <a:gd name="adj" fmla="val 17106763"/>
            </a:avLst>
          </a:prstGeom>
          <a:solidFill>
            <a:srgbClr val="FFFFFF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17750" y="2624733"/>
            <a:ext cx="240506" cy="24050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570827" y="3152180"/>
            <a:ext cx="2226945" cy="278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Устав</a:t>
            </a:r>
            <a:endParaRPr lang="en-US" sz="1750" dirty="0"/>
          </a:p>
        </p:txBody>
      </p:sp>
      <p:sp>
        <p:nvSpPr>
          <p:cNvPr id="12" name="Text 8"/>
          <p:cNvSpPr/>
          <p:nvPr/>
        </p:nvSpPr>
        <p:spPr>
          <a:xfrm>
            <a:off x="7570827" y="3514368"/>
            <a:ext cx="5705237" cy="508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Утверждается собранием (конференцией) адвокатов; регулирует внутреннюю организацию и порядок деятельности органов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1168598" y="4348639"/>
            <a:ext cx="6076593" cy="1916668"/>
          </a:xfrm>
          <a:prstGeom prst="roundRect">
            <a:avLst>
              <a:gd name="adj" fmla="val 3904"/>
            </a:avLst>
          </a:prstGeom>
          <a:solidFill>
            <a:srgbClr val="404040"/>
          </a:solidFill>
          <a:ln w="7620">
            <a:solidFill>
              <a:srgbClr val="595959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354336" y="4534376"/>
            <a:ext cx="534472" cy="534472"/>
          </a:xfrm>
          <a:prstGeom prst="roundRect">
            <a:avLst>
              <a:gd name="adj" fmla="val 17106763"/>
            </a:avLst>
          </a:prstGeom>
          <a:solidFill>
            <a:srgbClr val="FFFFFF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01259" y="4681299"/>
            <a:ext cx="240506" cy="24050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54336" y="5208746"/>
            <a:ext cx="3594735" cy="278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Имущественная обособленность</a:t>
            </a:r>
            <a:endParaRPr lang="en-US" sz="1750" dirty="0"/>
          </a:p>
        </p:txBody>
      </p:sp>
      <p:sp>
        <p:nvSpPr>
          <p:cNvPr id="17" name="Text 12"/>
          <p:cNvSpPr/>
          <p:nvPr/>
        </p:nvSpPr>
        <p:spPr>
          <a:xfrm>
            <a:off x="1354336" y="5570934"/>
            <a:ext cx="5705118" cy="508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Адвокаты не отвечают по обязательствам палаты; палата не отвечает по обязательствам адвокатов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7385090" y="4348639"/>
            <a:ext cx="6076712" cy="1916668"/>
          </a:xfrm>
          <a:prstGeom prst="roundRect">
            <a:avLst>
              <a:gd name="adj" fmla="val 3904"/>
            </a:avLst>
          </a:prstGeom>
          <a:solidFill>
            <a:srgbClr val="404040"/>
          </a:solidFill>
          <a:ln w="7620">
            <a:solidFill>
              <a:srgbClr val="595959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570827" y="4534376"/>
            <a:ext cx="534472" cy="534472"/>
          </a:xfrm>
          <a:prstGeom prst="roundRect">
            <a:avLst>
              <a:gd name="adj" fmla="val 17106763"/>
            </a:avLst>
          </a:prstGeom>
          <a:solidFill>
            <a:srgbClr val="FFFFFF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17750" y="4681299"/>
            <a:ext cx="240506" cy="24050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570827" y="5208746"/>
            <a:ext cx="3038356" cy="278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Территориальный принцип</a:t>
            </a:r>
            <a:endParaRPr lang="en-US" sz="1750" dirty="0"/>
          </a:p>
        </p:txBody>
      </p:sp>
      <p:sp>
        <p:nvSpPr>
          <p:cNvPr id="22" name="Text 16"/>
          <p:cNvSpPr/>
          <p:nvPr/>
        </p:nvSpPr>
        <p:spPr>
          <a:xfrm>
            <a:off x="7570827" y="5570934"/>
            <a:ext cx="5705237" cy="508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Одна палата на один субъект РФ; запрет на создание филиалов в других субъектах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1168598" y="6422708"/>
            <a:ext cx="12293203" cy="907971"/>
          </a:xfrm>
          <a:prstGeom prst="roundRect">
            <a:avLst>
              <a:gd name="adj" fmla="val 8241"/>
            </a:avLst>
          </a:prstGeom>
          <a:solidFill>
            <a:srgbClr val="262626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46716" y="6680002"/>
            <a:ext cx="222647" cy="17811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747480" y="6607135"/>
            <a:ext cx="11536204" cy="508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Адвокатская палата не вправе осуществлять адвокатскую деятельность от своего имени и заниматься предпринимательской деятельностью.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35323" y="1533763"/>
            <a:ext cx="6565940" cy="514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Порядок создания и ликвидации</a:t>
            </a:r>
            <a:endParaRPr lang="en-US" sz="3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3653" y="2462570"/>
            <a:ext cx="5406509" cy="3208734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26699" y="3246838"/>
            <a:ext cx="460245" cy="46024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316649" y="4797576"/>
            <a:ext cx="1343916" cy="517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Статус юрлица</a:t>
            </a:r>
            <a:endParaRPr lang="en-US" sz="16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41770" y="3247701"/>
            <a:ext cx="460244" cy="46024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622946" y="4797576"/>
            <a:ext cx="1467463" cy="517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Госрегистрация</a:t>
            </a:r>
            <a:endParaRPr lang="en-US" sz="16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348068" y="3247701"/>
            <a:ext cx="460245" cy="460245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2805697" y="4797576"/>
            <a:ext cx="1467464" cy="517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Учредительное</a:t>
            </a:r>
            <a:endParaRPr lang="en-US" sz="1600" dirty="0"/>
          </a:p>
        </p:txBody>
      </p:sp>
      <p:sp>
        <p:nvSpPr>
          <p:cNvPr id="10" name="Text 4"/>
          <p:cNvSpPr/>
          <p:nvPr/>
        </p:nvSpPr>
        <p:spPr>
          <a:xfrm>
            <a:off x="1635323" y="5805726"/>
            <a:ext cx="7243167" cy="681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Реорганизация адвокатской палаты </a:t>
            </a:r>
            <a:r>
              <a:rPr lang="en-US" sz="1250" b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запрещена законом</a:t>
            </a:r>
            <a:r>
              <a:rPr lang="en-US" sz="12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. Ликвидация допускается исключительно в случаях изменения территориального устройства Российской Федерации.</a:t>
            </a:r>
            <a:endParaRPr lang="en-US" sz="1250" dirty="0"/>
          </a:p>
        </p:txBody>
      </p:sp>
      <p:sp>
        <p:nvSpPr>
          <p:cNvPr id="11" name="Text 5"/>
          <p:cNvSpPr/>
          <p:nvPr/>
        </p:nvSpPr>
        <p:spPr>
          <a:xfrm>
            <a:off x="9287589" y="2346841"/>
            <a:ext cx="343138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Ключевые правовые особенности</a:t>
            </a:r>
            <a:endParaRPr lang="en-US" sz="1600" dirty="0"/>
          </a:p>
        </p:txBody>
      </p:sp>
      <p:sp>
        <p:nvSpPr>
          <p:cNvPr id="12" name="Shape 6"/>
          <p:cNvSpPr/>
          <p:nvPr/>
        </p:nvSpPr>
        <p:spPr>
          <a:xfrm>
            <a:off x="9287589" y="2738437"/>
            <a:ext cx="370403" cy="370403"/>
          </a:xfrm>
          <a:prstGeom prst="roundRect">
            <a:avLst>
              <a:gd name="adj" fmla="val 18668"/>
            </a:avLst>
          </a:prstGeom>
          <a:solidFill>
            <a:srgbClr val="404040"/>
          </a:solidFill>
          <a:ln w="7620">
            <a:solidFill>
              <a:srgbClr val="595959"/>
            </a:solidFill>
            <a:prstDash val="solid"/>
          </a:ln>
        </p:spPr>
      </p:sp>
      <p:sp>
        <p:nvSpPr>
          <p:cNvPr id="13" name="Text 7"/>
          <p:cNvSpPr/>
          <p:nvPr/>
        </p:nvSpPr>
        <p:spPr>
          <a:xfrm>
            <a:off x="9349264" y="2769275"/>
            <a:ext cx="246936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1</a:t>
            </a:r>
            <a:endParaRPr lang="en-US" sz="1900" dirty="0"/>
          </a:p>
        </p:txBody>
      </p:sp>
      <p:sp>
        <p:nvSpPr>
          <p:cNvPr id="14" name="Text 8"/>
          <p:cNvSpPr/>
          <p:nvPr/>
        </p:nvSpPr>
        <p:spPr>
          <a:xfrm>
            <a:off x="9777412" y="2794992"/>
            <a:ext cx="2057876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Единственность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9777412" y="3171587"/>
            <a:ext cx="3225046" cy="681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На территории субъекта РФ действует только одна палата — исключается конкуренция между объединениями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9287589" y="4092416"/>
            <a:ext cx="370403" cy="370403"/>
          </a:xfrm>
          <a:prstGeom prst="roundRect">
            <a:avLst>
              <a:gd name="adj" fmla="val 18668"/>
            </a:avLst>
          </a:prstGeom>
          <a:solidFill>
            <a:srgbClr val="404040"/>
          </a:solidFill>
          <a:ln w="7620">
            <a:solidFill>
              <a:srgbClr val="595959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9349264" y="4123253"/>
            <a:ext cx="246936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2</a:t>
            </a:r>
            <a:endParaRPr lang="en-US" sz="1900" dirty="0"/>
          </a:p>
        </p:txBody>
      </p:sp>
      <p:sp>
        <p:nvSpPr>
          <p:cNvPr id="18" name="Text 12"/>
          <p:cNvSpPr/>
          <p:nvPr/>
        </p:nvSpPr>
        <p:spPr>
          <a:xfrm>
            <a:off x="9777412" y="4148971"/>
            <a:ext cx="2304217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Запрет реорганизации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9777412" y="4525566"/>
            <a:ext cx="3225046" cy="681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Стабильность институциональной структуры гарантирована на уровне федерального закона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9287589" y="5446395"/>
            <a:ext cx="370403" cy="370403"/>
          </a:xfrm>
          <a:prstGeom prst="roundRect">
            <a:avLst>
              <a:gd name="adj" fmla="val 18668"/>
            </a:avLst>
          </a:prstGeom>
          <a:solidFill>
            <a:srgbClr val="404040"/>
          </a:solidFill>
          <a:ln w="7620">
            <a:solidFill>
              <a:srgbClr val="595959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9349264" y="5477232"/>
            <a:ext cx="246936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3</a:t>
            </a:r>
            <a:endParaRPr lang="en-US" sz="1900" dirty="0"/>
          </a:p>
        </p:txBody>
      </p:sp>
      <p:sp>
        <p:nvSpPr>
          <p:cNvPr id="22" name="Text 16"/>
          <p:cNvSpPr/>
          <p:nvPr/>
        </p:nvSpPr>
        <p:spPr>
          <a:xfrm>
            <a:off x="9777412" y="5502950"/>
            <a:ext cx="301359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Информационная открытость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9777412" y="5879544"/>
            <a:ext cx="3225046" cy="681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Обязанность вести официальный сайт и публиковать финансовую отчётность и решения совета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0"/>
            <a:ext cx="603504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7946" y="733068"/>
            <a:ext cx="7728109" cy="1264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Цели деятельности адвокатской палаты</a:t>
            </a:r>
            <a:endParaRPr lang="en-US" sz="39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7946" y="2268022"/>
            <a:ext cx="505658" cy="50565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439108" y="2268022"/>
            <a:ext cx="3675578" cy="316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Квалифицированная помощь</a:t>
            </a:r>
            <a:endParaRPr lang="en-US" sz="1950" dirty="0"/>
          </a:p>
        </p:txBody>
      </p:sp>
      <p:sp>
        <p:nvSpPr>
          <p:cNvPr id="6" name="Text 2"/>
          <p:cNvSpPr/>
          <p:nvPr/>
        </p:nvSpPr>
        <p:spPr>
          <a:xfrm>
            <a:off x="1439108" y="2692360"/>
            <a:ext cx="6996946" cy="61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Обеспечение оказания квалифицированной юридической помощи и повышение её доступности для населения</a:t>
            </a:r>
            <a:endParaRPr lang="en-US" sz="15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7946" y="3665339"/>
            <a:ext cx="505658" cy="50565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439108" y="3665339"/>
            <a:ext cx="2528530" cy="316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Бесплатная помощь</a:t>
            </a:r>
            <a:endParaRPr lang="en-US" sz="1950" dirty="0"/>
          </a:p>
        </p:txBody>
      </p:sp>
      <p:sp>
        <p:nvSpPr>
          <p:cNvPr id="9" name="Text 4"/>
          <p:cNvSpPr/>
          <p:nvPr/>
        </p:nvSpPr>
        <p:spPr>
          <a:xfrm>
            <a:off x="1439108" y="4089678"/>
            <a:ext cx="6996946" cy="61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Организация системы бесплатной юридической помощи гражданам в соответствии с законодательством</a:t>
            </a:r>
            <a:endParaRPr lang="en-US" sz="15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7946" y="5062657"/>
            <a:ext cx="505658" cy="50565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439108" y="5062657"/>
            <a:ext cx="2912269" cy="316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Защита прав адвокатов</a:t>
            </a:r>
            <a:endParaRPr lang="en-US" sz="1950" dirty="0"/>
          </a:p>
        </p:txBody>
      </p:sp>
      <p:sp>
        <p:nvSpPr>
          <p:cNvPr id="12" name="Text 6"/>
          <p:cNvSpPr/>
          <p:nvPr/>
        </p:nvSpPr>
        <p:spPr>
          <a:xfrm>
            <a:off x="1439108" y="5486995"/>
            <a:ext cx="6996946" cy="61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Представление и защита профессиональных прав и законных интересов членов палаты</a:t>
            </a:r>
            <a:endParaRPr lang="en-US" sz="15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07946" y="6459974"/>
            <a:ext cx="505658" cy="50565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439108" y="6459974"/>
            <a:ext cx="2528530" cy="316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Контроль за этикой</a:t>
            </a:r>
            <a:endParaRPr lang="en-US" sz="1950" dirty="0"/>
          </a:p>
        </p:txBody>
      </p:sp>
      <p:sp>
        <p:nvSpPr>
          <p:cNvPr id="15" name="Text 8"/>
          <p:cNvSpPr/>
          <p:nvPr/>
        </p:nvSpPr>
        <p:spPr>
          <a:xfrm>
            <a:off x="1439108" y="6884313"/>
            <a:ext cx="6996946" cy="61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Контроль за соблюдением Кодекса профессиональной этики адвоката и профессиональной подготовкой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21850" y="415647"/>
            <a:ext cx="6790015" cy="443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Структура органов адвокатской палаты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1850" y="1036082"/>
            <a:ext cx="9786580" cy="546223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1850" y="1036082"/>
            <a:ext cx="9786580" cy="546223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421850" y="6686669"/>
            <a:ext cx="2645569" cy="22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Принцип разделения функций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2421850" y="6996827"/>
            <a:ext cx="4720233" cy="737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Каждый орган наделён </a:t>
            </a:r>
            <a:r>
              <a:rPr lang="en-US" sz="1100" b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собственной, чётко разграниченной компетенцией</a:t>
            </a: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. Совокупность органов обеспечивает самоуправление, исполнение, контроль и профессиональную аттестацию.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7495699" y="6686669"/>
            <a:ext cx="2246590" cy="22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Обязательность решений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7495699" y="6996827"/>
            <a:ext cx="4720233" cy="552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Решения органов палаты, принятые в пределах их компетенции, </a:t>
            </a:r>
            <a:r>
              <a:rPr lang="en-US" sz="1100" b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обязательны для всех членов</a:t>
            </a: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палаты, обеспечивая дисциплину и единообразие адвокатской деятельности.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29521"/>
            <a:ext cx="1000494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Собрание (конференция) адвокатов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205276"/>
            <a:ext cx="330124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Статус и формирование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2786420"/>
            <a:ext cx="62447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Высший орган палаты. При численности адвокатов </a:t>
            </a:r>
            <a:r>
              <a:rPr lang="en-US" sz="1750" b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более 100 человек</a:t>
            </a: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созывается конференция с делегатами. Периодичность — не реже </a:t>
            </a:r>
            <a:r>
              <a:rPr lang="en-US" sz="1750" b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одного раза в год</a:t>
            </a: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. Кворум — не менее </a:t>
            </a:r>
            <a:r>
              <a:rPr lang="en-US" sz="1750" b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2/3</a:t>
            </a: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членов (делегатов).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4606561"/>
            <a:ext cx="6244709" cy="35957"/>
          </a:xfrm>
          <a:prstGeom prst="rect">
            <a:avLst/>
          </a:prstGeom>
          <a:solidFill>
            <a:srgbClr val="8F8F8F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93790" y="4897636"/>
            <a:ext cx="392953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Порядок принятия решений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3790" y="547878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Решения принимаются </a:t>
            </a:r>
            <a:r>
              <a:rPr lang="en-US" sz="1750" b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простым большинством голосов</a:t>
            </a: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от числа присутствующих членов (делегатов).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22052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Компетенция</a:t>
            </a:r>
            <a:endParaRPr lang="en-US" sz="22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84532" y="2826068"/>
            <a:ext cx="340162" cy="34016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336637" y="2814757"/>
            <a:ext cx="55075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Формирование совета адвокатской палаты</a:t>
            </a:r>
            <a:endParaRPr lang="en-US" sz="17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84532" y="3971449"/>
            <a:ext cx="340162" cy="34016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336637" y="3960138"/>
            <a:ext cx="55075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Избрание членов ревизионной и квалификационной комиссий</a:t>
            </a:r>
            <a:endParaRPr lang="en-US" sz="17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84532" y="5150882"/>
            <a:ext cx="340162" cy="34016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336637" y="5139571"/>
            <a:ext cx="55075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Определение размера обязательных отчислений адвокатов</a:t>
            </a:r>
            <a:endParaRPr lang="en-US" sz="17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84532" y="6330315"/>
            <a:ext cx="340162" cy="34016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336637" y="6319004"/>
            <a:ext cx="55075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Утверждение сметы расходов и отчётов органов палаты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0"/>
            <a:ext cx="603504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5178" y="2160032"/>
            <a:ext cx="649116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Совет адвокатской палаты и президент</a:t>
            </a:r>
            <a:endParaRPr lang="en-US" sz="2650" dirty="0"/>
          </a:p>
        </p:txBody>
      </p:sp>
      <p:sp>
        <p:nvSpPr>
          <p:cNvPr id="4" name="Text 1"/>
          <p:cNvSpPr/>
          <p:nvPr/>
        </p:nvSpPr>
        <p:spPr>
          <a:xfrm>
            <a:off x="475178" y="2787372"/>
            <a:ext cx="1697355" cy="212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Совет палаты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75178" y="3080742"/>
            <a:ext cx="3931206" cy="521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Коллегиальный исполнительный орган — </a:t>
            </a:r>
            <a:r>
              <a:rPr lang="en-US" sz="1050" b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не более 15 человек</a:t>
            </a:r>
            <a:r>
              <a:rPr lang="en-US" sz="10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, избирается тайным голосованием. Ротация: </a:t>
            </a:r>
            <a:r>
              <a:rPr lang="en-US" sz="1050" b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1/3 состава обновляется каждые два года</a:t>
            </a:r>
            <a:r>
              <a:rPr lang="en-US" sz="10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745236" y="2787372"/>
            <a:ext cx="1697355" cy="212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Президент палаты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745236" y="3080742"/>
            <a:ext cx="3931206" cy="868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Избирается советом сроком на </a:t>
            </a:r>
            <a:r>
              <a:rPr lang="en-US" sz="1050" b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четыре года</a:t>
            </a:r>
            <a:r>
              <a:rPr lang="en-US" sz="10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. Представляет палату без доверенности, заключает сделки, организует работу аппарата, инициирует </a:t>
            </a:r>
            <a:r>
              <a:rPr lang="en-US" sz="1050" b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дисциплинарные производства</a:t>
            </a:r>
            <a:r>
              <a:rPr lang="en-US" sz="10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в отношении адвокатов.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745236" y="4040743"/>
            <a:ext cx="3931206" cy="777240"/>
          </a:xfrm>
          <a:prstGeom prst="roundRect">
            <a:avLst>
              <a:gd name="adj" fmla="val 7338"/>
            </a:avLst>
          </a:prstGeom>
          <a:solidFill>
            <a:srgbClr val="262626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0967" y="4228743"/>
            <a:ext cx="169664" cy="13573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86363" y="4155877"/>
            <a:ext cx="3354348" cy="521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Президент — ключевая фигура внешнего представительства и оперативного управления палатой.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75178" y="5000863"/>
            <a:ext cx="2677001" cy="1068705"/>
          </a:xfrm>
          <a:prstGeom prst="roundRect">
            <a:avLst>
              <a:gd name="adj" fmla="val 5337"/>
            </a:avLst>
          </a:prstGeom>
          <a:solidFill>
            <a:srgbClr val="404040"/>
          </a:solidFill>
          <a:ln w="7620">
            <a:solidFill>
              <a:srgbClr val="595959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18530" y="5144214"/>
            <a:ext cx="1928217" cy="212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Организует юрпомощь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18530" y="5405080"/>
            <a:ext cx="2390299" cy="347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В том числе по назначению органов дознания, следствия и суда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233380" y="5000863"/>
            <a:ext cx="2677120" cy="1068705"/>
          </a:xfrm>
          <a:prstGeom prst="roundRect">
            <a:avLst>
              <a:gd name="adj" fmla="val 5337"/>
            </a:avLst>
          </a:prstGeom>
          <a:solidFill>
            <a:srgbClr val="404040"/>
          </a:solidFill>
          <a:ln w="7620">
            <a:solidFill>
              <a:srgbClr val="595959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376732" y="5144214"/>
            <a:ext cx="1697355" cy="212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Ведёт реестры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376732" y="5405080"/>
            <a:ext cx="2390418" cy="521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Адвокатских образований; рассматривает жалобы на адвокатов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991701" y="5000863"/>
            <a:ext cx="2677001" cy="1068705"/>
          </a:xfrm>
          <a:prstGeom prst="roundRect">
            <a:avLst>
              <a:gd name="adj" fmla="val 5337"/>
            </a:avLst>
          </a:prstGeom>
          <a:solidFill>
            <a:srgbClr val="404040"/>
          </a:solidFill>
          <a:ln w="7620">
            <a:solidFill>
              <a:srgbClr val="595959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135053" y="5144214"/>
            <a:ext cx="2338864" cy="212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Распоряжается имуществом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6135053" y="5405080"/>
            <a:ext cx="2390299" cy="521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Обеспечивает финансово-хозяйственную деятельность палаты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2241" y="637223"/>
            <a:ext cx="12287964" cy="698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Ревизионная и квалификационная комиссии</a:t>
            </a:r>
            <a:endParaRPr lang="en-US" sz="4350" dirty="0"/>
          </a:p>
        </p:txBody>
      </p:sp>
      <p:sp>
        <p:nvSpPr>
          <p:cNvPr id="3" name="Shape 1"/>
          <p:cNvSpPr/>
          <p:nvPr/>
        </p:nvSpPr>
        <p:spPr>
          <a:xfrm>
            <a:off x="782241" y="1776055"/>
            <a:ext cx="6422827" cy="4272796"/>
          </a:xfrm>
          <a:prstGeom prst="roundRect">
            <a:avLst>
              <a:gd name="adj" fmla="val 2197"/>
            </a:avLst>
          </a:prstGeom>
          <a:solidFill>
            <a:srgbClr val="181616">
              <a:alpha val="95000"/>
            </a:srgbClr>
          </a:solidFill>
          <a:ln w="30480">
            <a:solidFill>
              <a:srgbClr val="59595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2721" y="1806535"/>
            <a:ext cx="6361867" cy="670441"/>
          </a:xfrm>
          <a:prstGeom prst="roundRect">
            <a:avLst>
              <a:gd name="adj" fmla="val 8547"/>
            </a:avLst>
          </a:prstGeom>
          <a:solidFill>
            <a:srgbClr val="404040"/>
          </a:solidFill>
          <a:ln/>
        </p:spPr>
      </p:sp>
      <p:sp>
        <p:nvSpPr>
          <p:cNvPr id="5" name="Text 3"/>
          <p:cNvSpPr/>
          <p:nvPr/>
        </p:nvSpPr>
        <p:spPr>
          <a:xfrm>
            <a:off x="3826073" y="1928455"/>
            <a:ext cx="335161" cy="418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36201" y="2697123"/>
            <a:ext cx="3162419" cy="34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Ревизионная комиссия</a:t>
            </a:r>
            <a:endParaRPr lang="en-US" sz="2150" dirty="0"/>
          </a:p>
        </p:txBody>
      </p:sp>
      <p:sp>
        <p:nvSpPr>
          <p:cNvPr id="7" name="Text 5"/>
          <p:cNvSpPr/>
          <p:nvPr/>
        </p:nvSpPr>
        <p:spPr>
          <a:xfrm>
            <a:off x="1036201" y="3178373"/>
            <a:ext cx="5914906" cy="709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b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Функция:</a:t>
            </a: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контроль за финансово-хозяйственной деятельностью палаты и её органов.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036201" y="4020264"/>
            <a:ext cx="5914906" cy="1064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b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Состав:</a:t>
            </a: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избирается из числа адвокатов, подотчётна собранию (конференции). Члены комиссии не вправе занимать иные выборные должности в палате.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425214" y="1776055"/>
            <a:ext cx="6422946" cy="4272796"/>
          </a:xfrm>
          <a:prstGeom prst="roundRect">
            <a:avLst>
              <a:gd name="adj" fmla="val 2197"/>
            </a:avLst>
          </a:prstGeom>
          <a:solidFill>
            <a:srgbClr val="181616">
              <a:alpha val="95000"/>
            </a:srgbClr>
          </a:solidFill>
          <a:ln w="30480">
            <a:solidFill>
              <a:srgbClr val="59595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55694" y="1806535"/>
            <a:ext cx="6361986" cy="670441"/>
          </a:xfrm>
          <a:prstGeom prst="roundRect">
            <a:avLst>
              <a:gd name="adj" fmla="val 8547"/>
            </a:avLst>
          </a:prstGeom>
          <a:solidFill>
            <a:srgbClr val="404040"/>
          </a:solidFill>
          <a:ln/>
        </p:spPr>
      </p:sp>
      <p:sp>
        <p:nvSpPr>
          <p:cNvPr id="11" name="Text 9"/>
          <p:cNvSpPr/>
          <p:nvPr/>
        </p:nvSpPr>
        <p:spPr>
          <a:xfrm>
            <a:off x="10469047" y="1928455"/>
            <a:ext cx="335161" cy="418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679174" y="2697123"/>
            <a:ext cx="4039672" cy="34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Квалификационная комиссия</a:t>
            </a:r>
            <a:endParaRPr lang="en-US" sz="2150" dirty="0"/>
          </a:p>
        </p:txBody>
      </p:sp>
      <p:sp>
        <p:nvSpPr>
          <p:cNvPr id="13" name="Text 11"/>
          <p:cNvSpPr/>
          <p:nvPr/>
        </p:nvSpPr>
        <p:spPr>
          <a:xfrm>
            <a:off x="7679174" y="3178373"/>
            <a:ext cx="5915025" cy="1064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b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Функция:</a:t>
            </a: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приём квалификационных экзаменов у претендентов на статус адвоката; рассмотрение жалоб на действия адвокатов.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679174" y="4375190"/>
            <a:ext cx="5915025" cy="1419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b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Состав (паритетный):</a:t>
            </a: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адвокаты, органы юстиции, законодательная власть субъекта, суды, научное сообщество. Решения принимаются большинством голосов и оформляются протоколом.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82241" y="6296620"/>
            <a:ext cx="13065919" cy="1295638"/>
          </a:xfrm>
          <a:prstGeom prst="roundRect">
            <a:avLst>
              <a:gd name="adj" fmla="val 7246"/>
            </a:avLst>
          </a:prstGeom>
          <a:solidFill>
            <a:srgbClr val="262626"/>
          </a:solidFill>
          <a:ln/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721" y="6639401"/>
            <a:ext cx="279321" cy="22348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508522" y="6572607"/>
            <a:ext cx="12116157" cy="709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Паритетный состав квалификационной комиссии гарантирует объективность при допуске к профессии и в дисциплинарных производствах.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0"/>
            <a:ext cx="603504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9234" y="1541026"/>
            <a:ext cx="8065532" cy="962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Итоги: адвокатская палата как институт гражданского общества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39234" y="2660690"/>
            <a:ext cx="8065532" cy="3289459"/>
          </a:xfrm>
          <a:prstGeom prst="roundRect">
            <a:avLst>
              <a:gd name="adj" fmla="val 1967"/>
            </a:avLst>
          </a:prstGeom>
          <a:solidFill>
            <a:srgbClr val="404040"/>
          </a:solidFill>
          <a:ln w="7620">
            <a:solidFill>
              <a:srgbClr val="595959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6854" y="2668310"/>
            <a:ext cx="8050292" cy="818555"/>
          </a:xfrm>
          <a:prstGeom prst="roundRect">
            <a:avLst>
              <a:gd name="adj" fmla="val 7905"/>
            </a:avLst>
          </a:prstGeom>
          <a:solidFill>
            <a:srgbClr val="404040"/>
          </a:solidFill>
          <a:ln/>
        </p:spPr>
      </p:sp>
      <p:sp>
        <p:nvSpPr>
          <p:cNvPr id="6" name="Text 3"/>
          <p:cNvSpPr/>
          <p:nvPr/>
        </p:nvSpPr>
        <p:spPr>
          <a:xfrm>
            <a:off x="700921" y="2822377"/>
            <a:ext cx="1925836" cy="240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Самоуправление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00921" y="3125867"/>
            <a:ext cx="7742158" cy="206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Независимость от государства при выполнении публично значимых функций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6854" y="3486864"/>
            <a:ext cx="8050292" cy="818555"/>
          </a:xfrm>
          <a:prstGeom prst="rect">
            <a:avLst/>
          </a:prstGeom>
          <a:solidFill>
            <a:srgbClr val="404040"/>
          </a:solidFill>
          <a:ln/>
        </p:spPr>
      </p:sp>
      <p:sp>
        <p:nvSpPr>
          <p:cNvPr id="9" name="Shape 6"/>
          <p:cNvSpPr/>
          <p:nvPr/>
        </p:nvSpPr>
        <p:spPr>
          <a:xfrm>
            <a:off x="546854" y="3486864"/>
            <a:ext cx="8050292" cy="22860"/>
          </a:xfrm>
          <a:prstGeom prst="roundRect">
            <a:avLst>
              <a:gd name="adj" fmla="val 283072"/>
            </a:avLst>
          </a:prstGeom>
          <a:solidFill>
            <a:srgbClr val="595959"/>
          </a:solidFill>
          <a:ln/>
        </p:spPr>
      </p:sp>
      <p:sp>
        <p:nvSpPr>
          <p:cNvPr id="10" name="Text 7"/>
          <p:cNvSpPr/>
          <p:nvPr/>
        </p:nvSpPr>
        <p:spPr>
          <a:xfrm>
            <a:off x="700921" y="3640931"/>
            <a:ext cx="1925836" cy="240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Контроль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00921" y="3944422"/>
            <a:ext cx="7742158" cy="206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Надзор за профессиональными стандартами, этикой и квалификацией адвокатов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6854" y="4305419"/>
            <a:ext cx="8050292" cy="818555"/>
          </a:xfrm>
          <a:prstGeom prst="rect">
            <a:avLst/>
          </a:prstGeom>
          <a:solidFill>
            <a:srgbClr val="404040"/>
          </a:solidFill>
          <a:ln/>
        </p:spPr>
      </p:sp>
      <p:sp>
        <p:nvSpPr>
          <p:cNvPr id="13" name="Shape 10"/>
          <p:cNvSpPr/>
          <p:nvPr/>
        </p:nvSpPr>
        <p:spPr>
          <a:xfrm>
            <a:off x="546854" y="4305419"/>
            <a:ext cx="8050292" cy="22860"/>
          </a:xfrm>
          <a:prstGeom prst="roundRect">
            <a:avLst>
              <a:gd name="adj" fmla="val 283072"/>
            </a:avLst>
          </a:prstGeom>
          <a:solidFill>
            <a:srgbClr val="595959"/>
          </a:solidFill>
          <a:ln/>
        </p:spPr>
      </p:sp>
      <p:sp>
        <p:nvSpPr>
          <p:cNvPr id="14" name="Text 11"/>
          <p:cNvSpPr/>
          <p:nvPr/>
        </p:nvSpPr>
        <p:spPr>
          <a:xfrm>
            <a:off x="700921" y="4459486"/>
            <a:ext cx="1925836" cy="240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Доступность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00921" y="4762976"/>
            <a:ext cx="7742158" cy="206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Организация бесплатной и назначаемой юридической помощи населению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6854" y="5123974"/>
            <a:ext cx="8050292" cy="818555"/>
          </a:xfrm>
          <a:prstGeom prst="rect">
            <a:avLst/>
          </a:prstGeom>
          <a:solidFill>
            <a:srgbClr val="404040"/>
          </a:solidFill>
          <a:ln/>
        </p:spPr>
      </p:sp>
      <p:sp>
        <p:nvSpPr>
          <p:cNvPr id="17" name="Shape 14"/>
          <p:cNvSpPr/>
          <p:nvPr/>
        </p:nvSpPr>
        <p:spPr>
          <a:xfrm>
            <a:off x="546854" y="5123974"/>
            <a:ext cx="8050292" cy="22860"/>
          </a:xfrm>
          <a:prstGeom prst="roundRect">
            <a:avLst>
              <a:gd name="adj" fmla="val 283072"/>
            </a:avLst>
          </a:prstGeom>
          <a:solidFill>
            <a:srgbClr val="595959"/>
          </a:solidFill>
          <a:ln/>
        </p:spPr>
      </p:sp>
      <p:sp>
        <p:nvSpPr>
          <p:cNvPr id="18" name="Text 15"/>
          <p:cNvSpPr/>
          <p:nvPr/>
        </p:nvSpPr>
        <p:spPr>
          <a:xfrm>
            <a:off x="700921" y="5278041"/>
            <a:ext cx="1925836" cy="240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Прозрачность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700921" y="5581531"/>
            <a:ext cx="7742158" cy="206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Информационная открытость, обязательная публикация отчётности и решений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39234" y="6067782"/>
            <a:ext cx="8065532" cy="620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Адвокатская палата субъекта РФ обеспечивает </a:t>
            </a:r>
            <a:r>
              <a:rPr lang="en-US" sz="1200" b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единство профессионального сообщества</a:t>
            </a:r>
            <a:r>
              <a:rPr lang="en-US" sz="12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в регионе посредством чётко разграниченной системы органов, действующих строго в рамках компетенции, установленной ФЗ № 63-ФЗ.</a:t>
            </a:r>
            <a:endParaRPr lang="en-US" sz="1200" dirty="0"/>
          </a:p>
        </p:txBody>
      </p:sp>
      <p:sp>
        <p:nvSpPr>
          <p:cNvPr id="21" name="Прямоугольник 20"/>
          <p:cNvSpPr/>
          <p:nvPr/>
        </p:nvSpPr>
        <p:spPr>
          <a:xfrm rot="10800000">
            <a:off x="10205319" y="5788462"/>
            <a:ext cx="2815119" cy="61233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Тема Office 2013–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</TotalTime>
  <Words>705</Words>
  <Application>Microsoft Office PowerPoint</Application>
  <PresentationFormat>Произвольный</PresentationFormat>
  <Paragraphs>103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Mona Sans Semi Bold</vt:lpstr>
      <vt:lpstr>Calibri Light</vt:lpstr>
      <vt:lpstr>Arial</vt:lpstr>
      <vt:lpstr>Funnel Sans</vt:lpstr>
      <vt:lpstr>Calibri</vt:lpstr>
      <vt:lpstr>Тема Office 2013–2022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lastModifiedBy>Tommy</cp:lastModifiedBy>
  <cp:revision>4</cp:revision>
  <dcterms:created xsi:type="dcterms:W3CDTF">2026-03-18T12:32:20Z</dcterms:created>
  <dcterms:modified xsi:type="dcterms:W3CDTF">2026-03-19T07:26:35Z</dcterms:modified>
</cp:coreProperties>
</file>