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rimson Text" panose="020B0604020202020204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27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651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F916C-36BE-4D74-48C7-5424A0EA0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C7556C-8091-07E0-3168-F5843651D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011811-96F4-7D41-AA49-5EE984B84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D30368-5863-693A-90C0-49D0B9D5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AE6E8-2C06-AD41-EB06-44A3C8F7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7167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DC2C3-424B-7021-A1BA-A30CD223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D6773-E670-A792-5C80-569B87FA9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50BE8D-BE62-34FC-EA30-4AADA7587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87EF76-B7B9-DC44-3D14-B4C1C683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B16054-8D12-DFA3-EDFC-7E328EE7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2046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B3739-18FF-A3A0-38CB-A89584C0D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D659A3-CA6E-8B6F-0EAC-45F4AA5C0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443CA1-693D-2A12-A03F-1684A7DD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E6137D-935D-A988-D41A-93F0D52A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BEFD02-49AC-74C6-49C8-A814DB51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4817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5A80C-D1A1-11E8-751C-CFD1A81E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B2257B-FFD8-B81C-1DBA-83C6AE8CB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B5A350-D7B9-B693-1B29-13E0F724F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DFF3DD-23E0-D922-AE2C-4ECF3BE5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C7EC46-A5C9-6840-7401-21939262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392057-56C1-21F2-BEEF-B9E24FFA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9350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7B240-3AE8-C79E-00B2-2E47EFB3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699FC0-F00E-0814-A5A5-CA86AB2E7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191C30-F5F1-0689-AF62-87840F05E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1A9B6-A63E-AD1A-EDF1-4C03DC959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4A58DF2-4C79-43A7-A6F7-CD8F0C803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1063367-B1A8-F831-6A1A-55FD0B30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14575AA-48A7-0ECB-A9E0-94DCD5380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38D33D-2B15-2ED5-F17A-4C2CF5DB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5987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8F581-8738-42A3-AE61-6F051D00E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F261538-5809-108D-9E76-901C80135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A8E613-5534-0436-61E7-C2BED6326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5C46AE-9DA7-A11A-FC7A-287C8DDB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9288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8C3958-D673-CA83-C651-7B62489E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688E85A-8DAF-0CC6-590C-FF0616CA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DDBA43-EB44-7E3D-B09A-E38B2C73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7467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FBA674-988E-6CAA-2335-245AAA3E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1266BA-922F-0107-B565-71C47A75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ED6A3A-4804-2C85-9749-7E1D8C12B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6FCA94-5E7E-3CB1-B9D8-9AAE4D59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0232B6-BEB2-8308-F239-6CC0F22B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55A249-6D13-6364-AB99-38A9A1BF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9267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F8A6A-5BB8-3E42-1889-13344CD7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7274B6-E621-B472-A039-401F1E16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44C592-4F99-6E77-346D-AD41ABADE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8E922E-E796-DD8E-3295-2C049CF14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8EF5FE-E6C9-F37C-439F-5A195A49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6171AF-FF20-458B-E68F-F719F131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204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02ED97-AB54-01F5-72CE-1DB3A42B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EA1349-6191-B35E-ED29-8D0A8027B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2D7196-8438-08EA-72D9-4A6C9557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CA53EA-3E55-51B0-6059-A84556C3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0536D9-E6BC-9C4A-508C-158392C9B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24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18181A7-88E6-7951-51E1-A3069E896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073746-4389-073A-B2A9-D474F68C0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E37A0-3B70-25EC-6839-D2994A596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7EF691-DC44-681E-A977-E4A89F8F0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6B8DB6-9A54-8A79-6884-12BAC1F0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8266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904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205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130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521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540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953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054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187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1515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34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DFB9E-8D3B-899D-D7D5-C4443DE04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B1F4F1-051D-490A-F0F8-E934B913C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A09E38-A830-0992-0800-CE6A97A64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53861-3033-476C-9758-EBD2806E167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218089-B450-D91C-A407-CE3AA8C7F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B3D7A3-1166-0F77-32DF-285D25503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6F298-C2C2-442D-B7B0-0D8F1EAF6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85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8706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Российская адвокатура по Судебным Уставам 1864 года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72487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Великая судебная реформа Александра II Освободителя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407"/>
            <a:ext cx="715137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Судебная реформа 1864 года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65734"/>
            <a:ext cx="763202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Утверждение Судебных уставов 20 ноября 1864 года указом государя-императора представляет собой знаменитую судебную реформу Александра II. Это одна из ключевых реформ России XIX века наряду с крестьянской и земской, которые именуются Великими реформами.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14487"/>
            <a:ext cx="763202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Судебные уставы были приняты в нескольких частях и имели громоздкую внутреннюю структуру. Основных документов было четыре: Устав гражданского судопроизводства, Устав уголовного судопроизводства, Учреждение судебных установлений, Устав о наказаниях, налагаемых мировыми судьями.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543" y="2110383"/>
            <a:ext cx="4926568" cy="4926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6788"/>
            <a:ext cx="952452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Новые принципы судопроизводства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983700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768" y="218967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921A1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79" y="2353270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9768" y="29833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Состязательность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3412569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Введение сторон защиты и обвинения, которые убеждают судью в своей правоте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1983700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0357" y="218967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921A1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4068" y="2353270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357" y="29833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Открытость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20357" y="3412569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Отказ от закрытого суда в пользу публичных судебных заседаний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4451985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99768" y="465796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921A1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3479" y="4821555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9768" y="54516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Всесословность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99768" y="5880854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Отказ от сословных ограничений в судебном процессе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451985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20357" y="465796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921A1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4068" y="4821555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0357" y="54516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Независимость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20357" y="5880854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Судьи назначались пожизненно, обеспечивая независимость суда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93790" y="694515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Россия переходила от инквизиционного, закрытого, сословного суда к современной системе правосудия.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96472"/>
            <a:ext cx="63827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Присяжные поверенные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214205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Защитники получили название </a:t>
            </a:r>
            <a:r>
              <a:rPr lang="en-US" sz="1550" b="1" dirty="0">
                <a:solidFill>
                  <a:srgbClr val="921A1D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присяжные поверенные</a:t>
            </a: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. Согласно Уставам они наделялись функцией защиты обвиняемых в уголовном деле и представления интересов истца или ответчика в гражданском процессе.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339006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 Light" pitchFamily="34" charset="0"/>
                <a:ea typeface="Crimson Text Light" pitchFamily="34" charset="-122"/>
                <a:cs typeface="Crimson Text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3704392"/>
            <a:ext cx="3679031" cy="22860"/>
          </a:xfrm>
          <a:prstGeom prst="rect">
            <a:avLst/>
          </a:prstGeom>
          <a:solidFill>
            <a:srgbClr val="921A1D"/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38492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Уголовная защита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280190" y="4278511"/>
            <a:ext cx="36790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Защита обвиняемых и представление интересов потерпевших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157579" y="339006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 Light" pitchFamily="34" charset="0"/>
                <a:ea typeface="Crimson Text Light" pitchFamily="34" charset="-122"/>
                <a:cs typeface="Crimson Text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157579" y="3704392"/>
            <a:ext cx="3679031" cy="22860"/>
          </a:xfrm>
          <a:prstGeom prst="rect">
            <a:avLst/>
          </a:prstGeom>
          <a:solidFill>
            <a:srgbClr val="921A1D"/>
          </a:solidFill>
          <a:ln/>
        </p:spPr>
      </p:sp>
      <p:sp>
        <p:nvSpPr>
          <p:cNvPr id="11" name="Text 8"/>
          <p:cNvSpPr/>
          <p:nvPr/>
        </p:nvSpPr>
        <p:spPr>
          <a:xfrm>
            <a:off x="10157579" y="3849291"/>
            <a:ext cx="36790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Гражданское представительство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157579" y="4588669"/>
            <a:ext cx="36790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Отстаивание интересов истцов и ответчиков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280190" y="557831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 Light" pitchFamily="34" charset="0"/>
                <a:ea typeface="Crimson Text Light" pitchFamily="34" charset="-122"/>
                <a:cs typeface="Crimson Text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280190" y="5892641"/>
            <a:ext cx="7556421" cy="22860"/>
          </a:xfrm>
          <a:prstGeom prst="rect">
            <a:avLst/>
          </a:prstGeom>
          <a:solidFill>
            <a:srgbClr val="921A1D"/>
          </a:solidFill>
          <a:ln/>
        </p:spPr>
      </p:sp>
      <p:sp>
        <p:nvSpPr>
          <p:cNvPr id="15" name="Text 12"/>
          <p:cNvSpPr/>
          <p:nvPr/>
        </p:nvSpPr>
        <p:spPr>
          <a:xfrm>
            <a:off x="6280190" y="6037540"/>
            <a:ext cx="24940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Адвокатская тайна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280190" y="6466761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Право на конфиденциальность информации доверителя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1559"/>
            <a:ext cx="104009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Судебная система Российской империи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091446" y="2554605"/>
            <a:ext cx="6124456" cy="198358"/>
          </a:xfrm>
          <a:prstGeom prst="roundRect">
            <a:avLst>
              <a:gd name="adj" fmla="val 42025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356128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2618" y="2504956"/>
            <a:ext cx="297656" cy="297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1497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Мировые суды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579019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Дела до 500 руб., мировые судьи избирались на 3 года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712035" y="2256949"/>
            <a:ext cx="6124456" cy="198358"/>
          </a:xfrm>
          <a:prstGeom prst="roundRect">
            <a:avLst>
              <a:gd name="adj" fmla="val 42025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14379" y="2058472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3207" y="2207300"/>
            <a:ext cx="297656" cy="297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2737" y="28521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Окружные суды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12737" y="3281363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Первая инстанция, более 100 судов в 70 губерниях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1091446" y="4789408"/>
            <a:ext cx="6124456" cy="198358"/>
          </a:xfrm>
          <a:prstGeom prst="roundRect">
            <a:avLst>
              <a:gd name="adj" fmla="val 42025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3790" y="4590931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2618" y="4739759"/>
            <a:ext cx="297656" cy="297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2148" y="53846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Судебные палаты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92148" y="5813822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Вторая инстанция, 14 округов судебных палат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712035" y="4491752"/>
            <a:ext cx="6124456" cy="198358"/>
          </a:xfrm>
          <a:prstGeom prst="roundRect">
            <a:avLst>
              <a:gd name="adj" fmla="val 42025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14379" y="4293275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3207" y="4442103"/>
            <a:ext cx="297656" cy="2976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12737" y="50869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Сенат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12737" y="5516166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Кассация, надзор, обобщение практики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93790" y="655296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Основными местами работы присяжных поверенных были окружные суды, судебные палаты и Сенат, прежде всего его Особое присутствие, куда передали политические дела.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709" y="417552"/>
            <a:ext cx="7352824" cy="447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Требования к присяжным поверенным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72709" y="1122521"/>
            <a:ext cx="1938218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Образование и опыт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65090" y="1619250"/>
            <a:ext cx="5467945" cy="895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Возраст от 25 лет</a:t>
            </a:r>
            <a:endParaRPr lang="en-US" sz="14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Университетское юридическое образование</a:t>
            </a:r>
            <a:endParaRPr lang="en-US" sz="14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5-летний стаж юридической работы</a:t>
            </a:r>
            <a:endParaRPr lang="en-US" sz="14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Не занят на государственной службе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65089" y="3269694"/>
            <a:ext cx="2251710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Моральные требования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72709" y="3746302"/>
            <a:ext cx="5467945" cy="895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Отсутствие исключений со службы</a:t>
            </a:r>
            <a:endParaRPr lang="en-US" sz="14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Не находится под административной высылкой</a:t>
            </a:r>
            <a:endParaRPr lang="en-US" sz="14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Отсутствие непогашенной судимости</a:t>
            </a:r>
            <a:endParaRPr lang="en-US" sz="14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Не пребывает в состоянии банкротства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7366" y="1122521"/>
            <a:ext cx="2266950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Статусные ограничения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7366" y="1449110"/>
            <a:ext cx="546794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Российское подданство</a:t>
            </a:r>
            <a:endParaRPr lang="en-US" sz="14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Мужской пол</a:t>
            </a:r>
            <a:endParaRPr lang="en-US" sz="14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Христианское вероисповедание (или с разрешения Минюста)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366" y="2228017"/>
            <a:ext cx="5467945" cy="54679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2492"/>
            <a:ext cx="883789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Присяга присяжного поверенного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1446" y="3082647"/>
            <a:ext cx="12745164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«Обещаюсь и клянусь Всемогущим Богом, пред Святым Его Евангелием и животворящим крестом Господним, хранить верность Его Императорскому Величеству Государю Императору, Самодержцу Всероссийскому, исполнять в точности и по крайнему моему разумению законы Империи, не писать и не говорить на суде ничего, что могло бы клониться к ослаблению православной церкви, государства, общества, семейства и доброй нравственности, но честно и добросовестно исполнять обязанности принимаемого мною на себя звания, не нарушать уважения к судам и властям и охранять интересы моих доверителей и лиц, дела которых будут на меня возложены, памятуя, что во всем этом должен буду дать ответ пред законом и пред Богом на страшном суде Его. В удостоверение сего целую слова и крест Спасителя моего. Аминь».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59405"/>
            <a:ext cx="22860" cy="2669262"/>
          </a:xfrm>
          <a:prstGeom prst="rect">
            <a:avLst/>
          </a:prstGeom>
          <a:solidFill>
            <a:srgbClr val="921A1D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575190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Присяжные поверенные приносили присягу и имели право на адвокатскую тайну. На судебные заседания они обязаны были приходить во фраках черного цвета со значком присяжного поверенного в петлице.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1644"/>
            <a:ext cx="834973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Советы присяжных поверенных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329107"/>
            <a:ext cx="13042821" cy="22860"/>
          </a:xfrm>
          <a:prstGeom prst="roundRect">
            <a:avLst>
              <a:gd name="adj" fmla="val 364651"/>
            </a:avLst>
          </a:prstGeom>
          <a:solidFill>
            <a:srgbClr val="DDBABB"/>
          </a:solidFill>
          <a:ln/>
        </p:spPr>
      </p:sp>
      <p:sp>
        <p:nvSpPr>
          <p:cNvPr id="4" name="Shape 2"/>
          <p:cNvSpPr/>
          <p:nvPr/>
        </p:nvSpPr>
        <p:spPr>
          <a:xfrm>
            <a:off x="3980974" y="2733794"/>
            <a:ext cx="22860" cy="595313"/>
          </a:xfrm>
          <a:prstGeom prst="roundRect">
            <a:avLst>
              <a:gd name="adj" fmla="val 364651"/>
            </a:avLst>
          </a:prstGeom>
          <a:solidFill>
            <a:srgbClr val="DDBABB"/>
          </a:solidFill>
          <a:ln/>
        </p:spPr>
      </p:sp>
      <p:sp>
        <p:nvSpPr>
          <p:cNvPr id="5" name="Shape 3"/>
          <p:cNvSpPr/>
          <p:nvPr/>
        </p:nvSpPr>
        <p:spPr>
          <a:xfrm>
            <a:off x="3769162" y="310586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3576" y="314307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752011" y="17885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1866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2148" y="2217777"/>
            <a:ext cx="6000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Санкт-Петербург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03651" y="3329107"/>
            <a:ext cx="22860" cy="595313"/>
          </a:xfrm>
          <a:prstGeom prst="roundRect">
            <a:avLst>
              <a:gd name="adj" fmla="val 364651"/>
            </a:avLst>
          </a:prstGeom>
          <a:solidFill>
            <a:srgbClr val="DDBABB"/>
          </a:solidFill>
          <a:ln/>
        </p:spPr>
      </p:sp>
      <p:sp>
        <p:nvSpPr>
          <p:cNvPr id="10" name="Shape 8"/>
          <p:cNvSpPr/>
          <p:nvPr/>
        </p:nvSpPr>
        <p:spPr>
          <a:xfrm>
            <a:off x="7091839" y="310586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6253" y="314307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074688" y="41228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1866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314825" y="4552117"/>
            <a:ext cx="6000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Москва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626447" y="2733794"/>
            <a:ext cx="22860" cy="595313"/>
          </a:xfrm>
          <a:prstGeom prst="roundRect">
            <a:avLst>
              <a:gd name="adj" fmla="val 364651"/>
            </a:avLst>
          </a:prstGeom>
          <a:solidFill>
            <a:srgbClr val="DDBAB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14635" y="310586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F7D4D5"/>
          </a:solidFill>
          <a:ln w="7620">
            <a:solidFill>
              <a:srgbClr val="DDBA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89049" y="314307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397365" y="17885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1874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37502" y="2217777"/>
            <a:ext cx="600075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Харьков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790" y="509289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Изначально присяжные поверенные приписывались к Судебным палатам и образовывали коллегию. При наличии не менее 20 человек они могли сформировать Совет присяжных поверенных (5-15 человек). Однако таких советов было открыто всего три, хотя предполагалось 14.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3790" y="6268760"/>
            <a:ext cx="4215289" cy="118919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22860">
            <a:solidFill>
              <a:srgbClr val="DDBA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5008" y="6489978"/>
            <a:ext cx="27917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Прием и исключение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15008" y="6919198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Контроль вхождения в профессию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207437" y="6268760"/>
            <a:ext cx="4215408" cy="118919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22860">
            <a:solidFill>
              <a:srgbClr val="DDBA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8655" y="6489978"/>
            <a:ext cx="35688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Дисциплинарная практика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5428655" y="6919198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Рассмотрение жалоб и наказания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9621203" y="6268760"/>
            <a:ext cx="4215289" cy="1189196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22860">
            <a:solidFill>
              <a:srgbClr val="DDBA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42421" y="6489978"/>
            <a:ext cx="28445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Этические стандарты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842421" y="6919198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Установление норм поведения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685" y="711518"/>
            <a:ext cx="7712631" cy="1118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Ответственность и регулирование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85" y="2071688"/>
            <a:ext cx="894517" cy="107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1412" y="2250519"/>
            <a:ext cx="2236470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Дисциплинарная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771412" y="2626638"/>
            <a:ext cx="66569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По линии Совета: предостережение, выговор, запрет на работу до 1 года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85" y="3145155"/>
            <a:ext cx="894517" cy="12781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71412" y="3323987"/>
            <a:ext cx="2236470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Гражданская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771412" y="3700105"/>
            <a:ext cx="665690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За небрежное исполнение обязанностей, нанесение материального ущерба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685" y="4423291"/>
            <a:ext cx="894517" cy="107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71412" y="4602123"/>
            <a:ext cx="2236470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Уголовная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771412" y="4978241"/>
            <a:ext cx="665690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За умышленные действия во вред доверителям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715685" y="5738693"/>
            <a:ext cx="2830116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Запрещенные действия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715685" y="6260068"/>
            <a:ext cx="7712631" cy="1258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Покупка прав доверителя по тяжбам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Представление интересов обеих сторон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Разглашение тайн после окончания дела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Ведение тяжбы против родственников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70478"/>
            <a:ext cx="721947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Итоги и значение реформы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1987391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1864</a:t>
            </a:r>
            <a:endParaRPr lang="en-US" sz="5150" dirty="0"/>
          </a:p>
        </p:txBody>
      </p:sp>
      <p:sp>
        <p:nvSpPr>
          <p:cNvPr id="5" name="Text 2"/>
          <p:cNvSpPr/>
          <p:nvPr/>
        </p:nvSpPr>
        <p:spPr>
          <a:xfrm>
            <a:off x="793790" y="2890361"/>
            <a:ext cx="2353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Год реформы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3319582"/>
            <a:ext cx="23533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Введение института присяжных поверенных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395186" y="1987391"/>
            <a:ext cx="23535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15000</a:t>
            </a:r>
            <a:endParaRPr lang="en-US" sz="5150" dirty="0"/>
          </a:p>
        </p:txBody>
      </p:sp>
      <p:sp>
        <p:nvSpPr>
          <p:cNvPr id="8" name="Text 5"/>
          <p:cNvSpPr/>
          <p:nvPr/>
        </p:nvSpPr>
        <p:spPr>
          <a:xfrm>
            <a:off x="3395186" y="2890361"/>
            <a:ext cx="23535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К 1917 году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395186" y="3319582"/>
            <a:ext cx="23535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Присяжных поверенных в России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996702" y="1987391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3</a:t>
            </a:r>
            <a:endParaRPr lang="en-US" sz="5150" dirty="0"/>
          </a:p>
        </p:txBody>
      </p:sp>
      <p:sp>
        <p:nvSpPr>
          <p:cNvPr id="11" name="Text 8"/>
          <p:cNvSpPr/>
          <p:nvPr/>
        </p:nvSpPr>
        <p:spPr>
          <a:xfrm>
            <a:off x="5996702" y="2890361"/>
            <a:ext cx="2353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81818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Совета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996702" y="3319582"/>
            <a:ext cx="23533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Санкт-Петербург, Москва, Харьков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3790" y="4495443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Судебная реформа 1864 года сыграла ключевую роль в становлении российской адвокатуры как самостоятельного профессионального института. Были заложены основы профессиональной этики, самоуправления и ответственности адвокатов.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93790" y="5988844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81818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Несмотря на ограничения, сословный характер профессии и неравномерное развитие адвокатуры по территории страны, именно в этот период были сформированы принципы состязательности, независимости суда и обеспечения права на защиту.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706</Words>
  <Application>Microsoft Office PowerPoint</Application>
  <PresentationFormat>Произвольный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Crimson Text</vt:lpstr>
      <vt:lpstr>Crimson Text Light</vt:lpstr>
      <vt:lpstr>Arial</vt:lpstr>
      <vt:lpstr>Aptos Display</vt:lpstr>
      <vt:lpstr>Aptos</vt:lpstr>
      <vt:lpstr>Crimson Text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PC</cp:lastModifiedBy>
  <cp:revision>2</cp:revision>
  <dcterms:created xsi:type="dcterms:W3CDTF">2026-03-18T19:00:24Z</dcterms:created>
  <dcterms:modified xsi:type="dcterms:W3CDTF">2026-03-18T19:03:03Z</dcterms:modified>
</cp:coreProperties>
</file>