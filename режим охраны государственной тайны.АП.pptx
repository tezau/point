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5" r:id="rId4"/>
    <p:sldId id="276" r:id="rId5"/>
    <p:sldId id="277" r:id="rId6"/>
    <p:sldId id="278" r:id="rId7"/>
    <p:sldId id="284" r:id="rId8"/>
    <p:sldId id="287" r:id="rId9"/>
    <p:sldId id="288" r:id="rId10"/>
    <p:sldId id="285" r:id="rId11"/>
    <p:sldId id="286" r:id="rId12"/>
    <p:sldId id="289" r:id="rId13"/>
    <p:sldId id="290" r:id="rId14"/>
    <p:sldId id="291" r:id="rId15"/>
    <p:sldId id="279" r:id="rId16"/>
    <p:sldId id="280" r:id="rId17"/>
    <p:sldId id="283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B7357D-4C67-423E-9FD1-77595CE44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53B3C1-CF1C-42D2-8E2F-4BB0CDCB9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5A6E65-77ED-4F4A-A100-586A0C29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82B630-23F2-476E-895B-486BF1D77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A4BB8C-FDA3-426D-B012-3605ED9A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420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E7449-EBA5-402A-B9A2-CEC132CF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9CFCA4-BB4D-4883-AE2A-04305F44D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A93938-AF2C-4BFF-B485-62066E4DD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794241-1AE2-4AF1-A7FE-12E48F523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1144CD-B79A-414F-A8AB-C671D9E9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19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DBABF-94D5-4953-BEEB-9A49CFA9A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D2838E-CC75-491C-98E5-D1AD1BA39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52C93B-DA65-4F44-8BD7-6D629B54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AED42D-E460-4080-9495-8AE9B89E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53ABD5-F543-455C-8156-8122C86FA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887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73F221-57D3-42D7-A97A-115B964F7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E38DE7-1E64-4ACE-A24E-69EA809A6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2DDAA1-C3E2-4C62-BB7A-DE61AD522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C1D742-39A1-4B7E-B78B-D30AF80C5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DBC692-DECE-4482-ACB9-4D8B300B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E9009D-E0D1-4DBF-B63D-3ED74304E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43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51156-8C45-48C5-BA40-B28C73446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DF64B4-F3A6-40C0-92DB-513929AAB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290269-C721-4269-B8EF-2E61BE4BA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54F1A7-31F9-43B7-B2E0-C55FE36A1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864F5B2-CB60-4401-984C-21807B7AA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103827-02C1-47F3-86FD-84443A59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84BB8FA-21FF-40FD-BEE9-A26BB710D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F081EF-8CA3-477D-BB8A-74FF576B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31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0AF93-17BD-40D9-97DB-E53FD2DE2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756A2F9-5A67-42CD-A991-71056D47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C6331A3-A11A-4CE7-9E4D-F386F5A9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F8FF1D-9F27-4C22-AED8-7762695B8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675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0372286-1A95-45AB-B0A2-05A11839E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A3E7816-CD36-4BDE-A2A1-319C4F96D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B5FFAF-825B-48D8-8393-9C7B6E77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71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40F4A-0C57-4E93-90A8-3BAB10D54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F167FD-0DB7-4854-9C7B-D61BED2C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35A379-E1F4-4303-AF07-65F8D682A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B07BB6-478F-41A7-8E1A-6743A6F17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085750-D94D-43C8-BEF3-4A40D04B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A8442F-C6FA-4B3F-829F-783B8739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2899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92F2C-2948-48E6-BE0D-43A377AE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D48352-FC21-4704-ACEB-581406D21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EFFAC0-8BCB-48C4-A466-4C54014D2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4FD9B1-1E1A-411D-BD30-B8A08490F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5AE6EF-05DD-42DA-B779-F6D7326DC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455D34-417A-4A69-B7AC-4DDD6A40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5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C3A20A-68EF-43D9-9F98-B644DEE4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242888-7A40-4238-84E6-7828717D3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47BABD-3DBC-48FA-A728-DF3B0B835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279754-79F6-47D2-83DC-B809E9F86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A4A440-6846-4D18-8511-EE3EE1289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07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B77C3FC-DD32-432D-984F-5607A3B368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EDF261-BA83-4880-96F7-6942E33C4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B9EFB9-7D6A-41AD-B4FD-B0492A455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62F25B-45BF-4F19-9508-14BC6AFEE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9E2969-9685-409A-9087-8F10CDE9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429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7F2AB-714B-40EB-AC2B-915B54E2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4A3B2B-9658-417B-A144-3EDE2CF5E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FD4969-F6F6-4BC7-8054-102093435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51AB4-681F-418D-8D68-0B0432B1789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A3D67D-E11D-41F8-A58B-E03E73E83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51C4F0-F33F-4621-BFE1-C6455AD57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551A3-7DF7-4CA7-A80E-4F2F480CE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41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hyperlink" Target="https://cyberleninka.ru/article/n/obschaya-harakteristika-rezhima-ohrany-gosudarstvennoy-tayny-v-rossiyskoy-federatsii" TargetMode="Externa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hyperlink" Target="https://sudact.ru/law/zakon-rf-ot-01041993-n-4730-1-o/" TargetMode="Externa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hyperlink" Target="https://rulaws.ru/laws/Zakon-RF-ot-21.07.1993-N-5485-1/" TargetMode="Externa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hyperlink" Target="https://kpfu.ru/portal/docs/F_618600082/Zakon.RF.ot.21.07.1993.N.5485_1._red..ot.08.08.2024_.pdf" TargetMode="Externa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FD6C7E-2271-4D27-A465-8EE3DC63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74" y="11997"/>
            <a:ext cx="12207374" cy="116546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4596FE-5B9E-4975-BEE3-81B93F976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374" y="134014"/>
            <a:ext cx="12207374" cy="921426"/>
          </a:xfrm>
        </p:spPr>
        <p:txBody>
          <a:bodyPr>
            <a:noAutofit/>
          </a:bodyPr>
          <a:lstStyle/>
          <a:p>
            <a:pPr lvl="0"/>
            <a:r>
              <a:rPr lang="ru-RU" sz="32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Тема</a:t>
            </a:r>
            <a:r>
              <a:rPr lang="en-US" sz="32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:</a:t>
            </a:r>
            <a:r>
              <a:rPr lang="ru-RU" sz="32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ru-RU" sz="3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Режим охраны государственной тайны</a:t>
            </a:r>
            <a:endParaRPr lang="ru-RU" sz="3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27BC1C-9C06-4796-908B-59DEFF176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0244"/>
            <a:ext cx="9144000" cy="3307556"/>
          </a:xfrm>
        </p:spPr>
        <p:txBody>
          <a:bodyPr>
            <a:normAutofit lnSpcReduction="10000"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Ангелина Сергеевна</a:t>
            </a:r>
          </a:p>
          <a:p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21176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082EEC-9A26-4456-B69D-496E38E56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729" y="5010687"/>
            <a:ext cx="2536156" cy="79254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4B77DC-BA2E-4049-9AFA-D364DC21C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374" y="6348674"/>
            <a:ext cx="12207374" cy="564888"/>
          </a:xfrm>
          <a:prstGeom prst="rect">
            <a:avLst/>
          </a:prstGeom>
        </p:spPr>
      </p:pic>
      <p:sp>
        <p:nvSpPr>
          <p:cNvPr id="7" name="Text Box 24">
            <a:extLst>
              <a:ext uri="{FF2B5EF4-FFF2-40B4-BE49-F238E27FC236}">
                <a16:creationId xmlns:a16="http://schemas.microsoft.com/office/drawing/2014/main" id="{DD190CE8-3173-4F01-8217-BAC2B1434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44" y="6348674"/>
            <a:ext cx="11569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ru-RU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год</a:t>
            </a:r>
          </a:p>
        </p:txBody>
      </p:sp>
    </p:spTree>
    <p:extLst>
      <p:ext uri="{BB962C8B-B14F-4D97-AF65-F5344CB8AC3E}">
        <p14:creationId xmlns:p14="http://schemas.microsoft.com/office/powerpoint/2010/main" val="58010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7328DF4-977C-44B0-B797-9F21D194E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713232"/>
            <a:ext cx="11950653" cy="5470664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режима, его значение для личности, общества</a:t>
            </a:r>
            <a:r>
              <a:rPr lang="ru-RU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, государства</a:t>
            </a:r>
          </a:p>
          <a:p>
            <a:pPr marL="0" indent="0" algn="ctr">
              <a:buNone/>
            </a:pPr>
            <a:endParaRPr lang="ru-RU" sz="3200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 охраны государственной тайны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— это система норм, правил и ограничений, которые предписывают лицам, имеющим допуск к государственной тайне, не разглашать и не передавать эту информацию лицам, не имеющим к ней допуск. 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режима охраны государственной тайны для личности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заключается в том, что он может ограничивать свободу перемещения лица, допущенного к государственной тайне, через государственную границу. Например, в период допуска к государственной тайне может быть запрет на выезд из страны. 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Для общества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режим охраны государственной тайны важен, так как он обеспечивает сохранность сведений, распространение которых может нанести ущерб безопасности государства. К таким сведениям относятся, например, сведения о военной, внешнеполитической, экономической, разведывательной деятельности. 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Для государства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режим охраны государственной тайны значим, поскольку он обеспечивает безопасность государства, в том числе за его пределами. Это связано с тем, что сведения, составляющие государственную тайну, могут представлять интерес за пределами государства. </a:t>
            </a:r>
            <a:br>
              <a:rPr lang="ru-RU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</a:br>
            <a:endParaRPr lang="ru-RU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341036-B602-4126-B52B-48F76B365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374" y="6545234"/>
            <a:ext cx="12207374" cy="368327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C1B72A1B-7871-4037-AB23-2CC053781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370" y="145328"/>
            <a:ext cx="1514968" cy="413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4">
            <a:extLst>
              <a:ext uri="{FF2B5EF4-FFF2-40B4-BE49-F238E27FC236}">
                <a16:creationId xmlns:a16="http://schemas.microsoft.com/office/drawing/2014/main" id="{0468D589-AD8B-49EF-BF50-D8FD04301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374" y="6513451"/>
            <a:ext cx="11569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ru-RU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год</a:t>
            </a:r>
          </a:p>
        </p:txBody>
      </p:sp>
    </p:spTree>
    <p:extLst>
      <p:ext uri="{BB962C8B-B14F-4D97-AF65-F5344CB8AC3E}">
        <p14:creationId xmlns:p14="http://schemas.microsoft.com/office/powerpoint/2010/main" val="25998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7328DF4-977C-44B0-B797-9F21D194E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145328"/>
            <a:ext cx="11950653" cy="603856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режима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информации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. Основной критерий для классификации — потенциальная угроза национальной безопасности. В частности, в соответствии с этим критерием рассматривается информация, связанная с обороной, внешними отношениями, разведкой и внутренней стабильностью.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Ограничение доступа для уполномоченного персонала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. Лица, посвящённые в государственные секреты, проходят тщательную проверку и обучение работе с секретными материалами.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 режима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. Режим разработан так, чтобы быть достаточно гибким для адаптации к меняющимся угрозам, стоящим перед страной.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Строгое наказание для лиц или организаций, не соблюдающих установленные протоколы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. Государство сохраняет контроль над наиболее чувствительной информацией, защищая её от возможного неправомерного использования.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Соблюдение баланса между прозрачностью и безопасностью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. Система обеспечивает защиту конфиденциальных данных, балансируя между этими понятиями.</a:t>
            </a:r>
          </a:p>
          <a:p>
            <a:pPr marL="0" indent="0" algn="just"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341036-B602-4126-B52B-48F76B365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74" y="6545234"/>
            <a:ext cx="12207374" cy="368327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C1B72A1B-7871-4037-AB23-2CC053781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7848" y="145328"/>
            <a:ext cx="1514968" cy="413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4">
            <a:extLst>
              <a:ext uri="{FF2B5EF4-FFF2-40B4-BE49-F238E27FC236}">
                <a16:creationId xmlns:a16="http://schemas.microsoft.com/office/drawing/2014/main" id="{0468D589-AD8B-49EF-BF50-D8FD04301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374" y="6513451"/>
            <a:ext cx="11569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ru-RU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год</a:t>
            </a:r>
          </a:p>
        </p:txBody>
      </p:sp>
    </p:spTree>
    <p:extLst>
      <p:ext uri="{BB962C8B-B14F-4D97-AF65-F5344CB8AC3E}">
        <p14:creationId xmlns:p14="http://schemas.microsoft.com/office/powerpoint/2010/main" val="2237226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1950" y="880836"/>
            <a:ext cx="11258550" cy="5739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100" b="1"/>
              <a:t>     </a:t>
            </a:r>
          </a:p>
          <a:p>
            <a:r>
              <a:rPr lang="ru-RU" sz="3100" b="1"/>
              <a:t> </a:t>
            </a:r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Закон РФ от 21.07.1993 №5485–1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«О государственной тайне». Устанавливает порядок оформления, переоформления и прекращения допуска к государственной тайне, а также их доступа к сведениям, составляющим государственную тайну.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Указ Президента РФ от 30.11.1995 №1203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«Об утверждении Перечня сведений, отнесённых к государственной тайне».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Федеральные законы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, в которых содержатся нормы, регулирующие обеспечение государственной тайны: «О транспортной безопасности», «О внешней разведке», «Об оперативно-розыскной деятельности» и другие.</a:t>
            </a:r>
          </a:p>
          <a:p>
            <a:pPr marL="0" indent="0">
              <a:buNone/>
            </a:pPr>
            <a:endParaRPr lang="ru-RU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532" y="233136"/>
            <a:ext cx="1518036" cy="414564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38175" y="0"/>
            <a:ext cx="10515600" cy="825500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Правовая основа режима</a:t>
            </a:r>
          </a:p>
        </p:txBody>
      </p:sp>
    </p:spTree>
    <p:extLst>
      <p:ext uri="{BB962C8B-B14F-4D97-AF65-F5344CB8AC3E}">
        <p14:creationId xmlns:p14="http://schemas.microsoft.com/office/powerpoint/2010/main" val="106908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0999" y="847725"/>
            <a:ext cx="11344275" cy="5229225"/>
          </a:xfrm>
        </p:spPr>
        <p:txBody>
          <a:bodyPr/>
          <a:lstStyle/>
          <a:p>
            <a:pPr marL="0" indent="0">
              <a:buNone/>
            </a:pP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438" y="214086"/>
            <a:ext cx="1518036" cy="414564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80999" y="734080"/>
            <a:ext cx="1161097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секретности</a:t>
            </a:r>
            <a:r>
              <a:rPr lang="ru-RU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 совокупность требований, правил, организационных, технических и иных мер, направленных на защиту сведений, составляющих государственную тайну. </a:t>
            </a:r>
          </a:p>
          <a:p>
            <a:endParaRPr lang="ru-RU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Основания для введения режима</a:t>
            </a:r>
            <a:r>
              <a:rPr lang="ru-RU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распространение защищаемых сведений может нанести ущерб безопасности государства, в частности в области военной, внешнеполитической, экономической, разведывательной и оперативно-розыскной деятельности. </a:t>
            </a:r>
          </a:p>
          <a:p>
            <a:r>
              <a:rPr lang="ru-RU" b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аспекты введения режима</a:t>
            </a:r>
            <a:r>
              <a:rPr lang="ru-RU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Засекречивание сведений и их носителей</a:t>
            </a:r>
            <a:r>
              <a:rPr lang="ru-RU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Для таких сведений вводят ограничения на их распространение и доступ к их носителям. Засекречивание осуществляется в соответствии с принципами законности, обоснованности и своевременности.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сведений, не подлежащих засекречиванию</a:t>
            </a:r>
            <a:r>
              <a:rPr lang="ru-RU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К ним относятся, например, сведения о чрезвычайных происшествиях и катастрофах, о состоянии экологии, здравоохранения, санитарии, демографии, образования, культуры, сельского хозяйства, преступности и другие.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степеней секретности</a:t>
            </a:r>
            <a:r>
              <a:rPr lang="ru-RU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Для носителей сведений устанавливают три степени секретности и соответствующие им грифы секретности: «особой важности», «совершенно секретно» и «секретно».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Рассекречивание сведений</a:t>
            </a:r>
            <a:r>
              <a:rPr lang="ru-RU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Это снятие ранее введённых ограничений на распространение сведений, составляющих государственную тайну, и на доступ к их носителям. Основаниями для рассекречивания служат, например, взятие на себя РФ международных обязательств по открытому обмену сведениями или изменение объективных обстоятельств, вследствие которого дальнейшая защита сведений становится нецелесообразной. </a:t>
            </a:r>
            <a:endParaRPr lang="ru-RU" b="0" i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88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6225" y="885825"/>
            <a:ext cx="11684193" cy="52911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Статья 20. Органы защиты государственной тайны</a:t>
            </a:r>
          </a:p>
          <a:p>
            <a:pPr marL="0" indent="0"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   К органам защиты государственной тайны относятся: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межведомственная комиссия по защите государственной тайны;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орган исполнительной власти, уполномоченный в области обеспечения безопасности, федеральный орган исполнительной власти, уполномоченный в области обороны, федеральный орган исполнительной власти, уполномоченный в области внешней разведки, федеральный орган исполнительной власти, уполномоченный в области противодействия техническим разведкам и технической защиты информации, и их территориальные органы;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органы государственной власти, предприятия, учреждения и организации и их структурные подразделения по защите государственной тайны.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382" y="192768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65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idx="1"/>
          </p:nvPr>
        </p:nvSpPr>
        <p:spPr>
          <a:xfrm>
            <a:off x="104775" y="104776"/>
            <a:ext cx="12011025" cy="659130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  Некоторые полномочия этих органов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обеспечивают защиту переданных им другими органами государственной власти сведений, составляющих государственную тайну, а также сведений, которые они засекречивают;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обеспечивают защиту государственной тайны на подведомственных им предприятиях, в учреждениях и организациях;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устанавливают размеры предоставляемых социальных гарантий гражданам, допущенным к государственной тайне на постоянной основе, и сотрудникам структурных подразделений по защите государственной тайны;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обеспечивают в пределах своей компетенции проведение проверочных мероприятий в отношении граждан, допускаемых к государственной тайне;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реализуют предусмотренные законодательством меры по ограничению прав граждан и предоставлению социальных гарантий лицам, имеющим либо имевшим доступ к сведениям, составляющим государственную тайну;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вносят в полномочные органы государственной власти предложения по совершенствованию системы защиты государственной тайны.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657" y="278493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62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750" y="190500"/>
            <a:ext cx="11601450" cy="634365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   Носители сведений, составляющих государственную тайну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— материальные объекты, в том числе физические поля, в которых такие сведения отображаются в виде символов, образов, сигналов, технических решений и процессов. </a:t>
            </a:r>
          </a:p>
          <a:p>
            <a:pPr marL="0" indent="0"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  Согласно Закону РФ от 21 июля 1993 года №5485-1 «О государственной тайне», к носителям относятся, например: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бумажные и электронные документы;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изделия и макеты изделий;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техника, установки, агрегаты, узлы, блоки, приборы;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вещества и материалы.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При засекречивании носителям присваивается соответствующий гриф секретности: «особой важности», «совершенно секретно», «секретно». 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Если носитель содержит составные части с различными степенями секретности, каждой из них присваивается свой гриф, а носителю в целом — высшая степень секретности. 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164" y="190500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05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0500" y="85726"/>
            <a:ext cx="11763375" cy="667702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432000" indent="0">
              <a:buNone/>
            </a:pPr>
            <a:r>
              <a:rPr lang="ru-RU" b="1"/>
              <a:t>    </a:t>
            </a:r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для лиц, допущенных к государственной тайне, могут касаться, например, права свободного выезда за пределы РФ, права на распространение информации, права на использование открытий и изобретений, права на неприкосновенность частной жизни. Такие ограничения устанавливают органы безопасности на основании заключения об осведомлённости лица в сведениях, составляющих государственную тайну, а также при проведении проверочных мероприятий. </a:t>
            </a:r>
          </a:p>
          <a:p>
            <a:pPr marL="432000" indent="0">
              <a:buNone/>
            </a:pPr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   Некоторые льготы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: закон устанавливает порядок предоставления социальных гарантий гражданам, допущенным к государственной тайне на постоянной основе, и сотрудникам структурных подразделений по защите государственной тайны. </a:t>
            </a:r>
            <a:br>
              <a:rPr lang="ru-RU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839" y="85726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61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381000" y="120650"/>
            <a:ext cx="11696700" cy="622300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Некоторые нормы и правила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Срок засекречивания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 сведений, составляющих государственную тайну, не должен превышать 30 лет. В исключительных случаях этот срок может быть продлён по заключению межведомственной комиссии по защите государственной тайны. </a:t>
            </a:r>
          </a:p>
          <a:p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Устанавливаются три формы допуска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 к государственной тайне должностных лиц и граждан, соответствующие трём степеням секретности сведений: к сведениям особой важности, совершенно секретным сведениям или секретным сведениям. </a:t>
            </a:r>
          </a:p>
          <a:p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Устанавливаются средства защиты информации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технические, криптографические, программные и другие средства, предназначенные для защиты сведений, составляющих государственную тайну, а также средства контроля эффективности защиты информации. </a:t>
            </a:r>
          </a:p>
          <a:p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Устанавливаются ограничения на распространение некоторых сведений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например, запрещается относить к государственной тайне и засекречивать сведения о чрезвычайных происшествиях и катастрофах, угрожающих безопасности и здоровью граждан, и их последствиях, а также о стихийных бедствиях, их официальных прогнозах и последствиях.</a:t>
            </a:r>
          </a:p>
          <a:p>
            <a:pPr fontAlgn="base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664" y="120650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76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1950" y="133349"/>
            <a:ext cx="11477625" cy="650557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9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Должностные лица и граждане Российской Федерации, допущенные к государственной тайне, обязаны: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не разглашать сведения, составляющие государственную тайну, а также выполнять иные требования законодательства Российской Федерации о государственной тайне;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информировать в установленном порядке об имеющихся у должностного лица или гражданина Российской Федерации, допущенных к государственной тайне, данных, свидетельствующих о наличии (возникновении) обстоятельств, которые являются основаниями для отказа в допуске к государственной тайне;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информировать в установленном порядке о предпринимавшихся попытках получения от них сведений, составляющих государственную тайну.</a:t>
            </a:r>
          </a:p>
          <a:p>
            <a:endParaRPr lang="ru-RU" sz="29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539" y="133349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98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idx="1"/>
          </p:nvPr>
        </p:nvSpPr>
        <p:spPr>
          <a:xfrm>
            <a:off x="838200" y="590550"/>
            <a:ext cx="10515600" cy="55864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   Некоторые права: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сведениям, составляющим государственную тайну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. Лица, замещающие определённые должности, имеют такое право со дня замещения этих должностей. 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Социальные гарантии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. Для должностных лиц и граждан, допущенных к государственной тайне на постоянной основе, предусмотрены процентные надбавки к должностному окладу в зависимости от степени секретности сведений, к которым они имеют доступ. 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Преимущественное право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на оставление на работе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при проведении органами государственной власти, предприятиями, учреждениями и организациями организационных и (или) штатных мероприятий. </a:t>
            </a: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Право обжаловать в суд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действия должностных лиц, которые, по мнению собственника информации, ущемляют его права. 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257" y="175986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38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6699" y="882649"/>
            <a:ext cx="11610975" cy="5661025"/>
          </a:xfrm>
        </p:spPr>
        <p:txBody>
          <a:bodyPr>
            <a:normAutofit lnSpcReduction="10000"/>
          </a:bodyPr>
          <a:lstStyle/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Убеждение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может использоваться, например, при допуске должностных лиц и граждан к материалам государственной тайны. От них требуется взять на себя ответственность перед государством по неразглашению доверенной информации, а также ознакомиться с законодательством и нормативно-правовыми актами в области государственной тайны. </a:t>
            </a: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Поощрение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может проявляться в виде льгот для граждан, имеющих право доступа к работе с государственной тайной. </a:t>
            </a: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Принуждение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 может использоваться, в частности, при расследовании дел о фактах разглашения государственной тайны и привлечении виновных лиц к уголовной ответственности. </a:t>
            </a:r>
          </a:p>
          <a:p>
            <a:pPr marL="0" indent="0">
              <a:buNone/>
            </a:pPr>
            <a:b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982" y="278493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10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0500" y="1047749"/>
            <a:ext cx="11830050" cy="51292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За нарушение лицом, имеющим допуск к государственной тайне, установленных правил обращения с содержащими государственную тайну документами, если это повлекло по неосторожности их утрату и наступление тяжких последствий, установлена ответственность в статье 284 УК РФ. Виновный наказывается ограничением свободы на срок до 3 лет, а экспертные заключения подготавливают экспертные комиссии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882" y="242661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25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5275" y="657225"/>
            <a:ext cx="11658600" cy="5910263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ru-RU" sz="5100"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 финансирования и компенсации расходов на осуществление режимных мер</a:t>
            </a:r>
            <a:endParaRPr lang="ru-RU"/>
          </a:p>
          <a:p>
            <a:pPr marL="0" indent="0" algn="just">
              <a:buNone/>
            </a:pPr>
            <a:endParaRPr lang="ru-RU"/>
          </a:p>
          <a:p>
            <a:pPr marL="0" indent="0" algn="just">
              <a:buNone/>
            </a:pPr>
            <a:r>
              <a:rPr lang="ru-RU" sz="4400"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 финансирования и компенсации расходов на осуществление режима охраны государственной тайны регулируется Законом РФ от 21.07.1993 №5485-1 (ред. от 08.08.2024) «О государственной тайне», в частности статьёй 29. </a:t>
            </a:r>
          </a:p>
          <a:p>
            <a:pPr marL="0" indent="0" algn="just">
              <a:buNone/>
            </a:pPr>
            <a:r>
              <a:rPr lang="ru-RU" sz="440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Финансирование деятельности органов государственной власти, бюджетных предприятий, учреждений и организаций и их структурных подразделений по защите государственной тайны, а также социальных гарантий, предусмотренных законом, осуществляется за счёт средств федерального бюджета, бюджетов субъектов РФ и местных бюджетов. </a:t>
            </a:r>
          </a:p>
          <a:p>
            <a:pPr marL="0" indent="0" algn="just">
              <a:buNone/>
            </a:pPr>
            <a:r>
              <a:rPr lang="ru-RU" sz="4400">
                <a:latin typeface="Times New Roman" panose="02020603050405020304" pitchFamily="18" charset="0"/>
                <a:cs typeface="Times New Roman" panose="02020603050405020304" pitchFamily="18" charset="0"/>
              </a:rPr>
              <a:t>Для остальных предприятий, учреждений и организаций финансирование происходит за счёт средств, получаемых от их основной деятельности при выполнении работ, связанных с использованием сведений, составляющих государственную тайну. </a:t>
            </a:r>
          </a:p>
          <a:p>
            <a:pPr marL="0" indent="0" algn="just">
              <a:buNone/>
            </a:pPr>
            <a:r>
              <a:rPr lang="ru-RU" sz="440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на финансирование государственных программ в области защиты государственной тайны предусматриваются в федеральном бюджете Российской Федерации отдельной строкой. </a:t>
            </a:r>
          </a:p>
          <a:p>
            <a:pPr marL="0" indent="0" algn="just">
              <a:buNone/>
            </a:pPr>
            <a:r>
              <a:rPr lang="ru-RU" sz="440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за расходованием финансовых средств, выделяемых на проведение мероприятий по защите государственной тайны, осуществляется руководителями органов государственной власти, органов местного самоуправления, предприятий, учреждений и организаций, заказчиками работ, а также специально уполномоченными на то представителями Министерства финансов Российской Федерации. </a:t>
            </a:r>
          </a:p>
          <a:p>
            <a:pPr marL="0" indent="0" algn="just">
              <a:buNone/>
            </a:pPr>
            <a:r>
              <a:rPr lang="ru-RU" sz="4400">
                <a:latin typeface="Times New Roman" panose="02020603050405020304" pitchFamily="18" charset="0"/>
                <a:cs typeface="Times New Roman" panose="02020603050405020304" pitchFamily="18" charset="0"/>
              </a:rPr>
              <a:t>Компенсация материального ущерба, наносимого собственнику информации в связи с её засекречиванием, осуществляется государством в размерах, определяемых в договоре между органом государственной власти, в распоряжение которого переходит эта информация, и её собственником. </a:t>
            </a:r>
          </a:p>
          <a:p>
            <a:pPr marL="0" indent="0" algn="just">
              <a:buNone/>
            </a:pPr>
            <a:r>
              <a:rPr lang="ru-RU" sz="4400"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 признания судом действий должностных лиц незаконными порядок возмещения ущерба, нанесённого собственнику информации, определяется решением суда в соответствии с действующим законодательством. </a:t>
            </a:r>
            <a:br>
              <a:rPr lang="ru-RU" sz="440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</a:b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607" y="145143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2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2011" y="1238250"/>
            <a:ext cx="10515600" cy="835025"/>
          </a:xfrm>
        </p:spPr>
        <p:txBody>
          <a:bodyPr>
            <a:normAutofit/>
          </a:bodyPr>
          <a:lstStyle/>
          <a:p>
            <a:pPr algn="ctr"/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Информационное обеспечение режима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924" y="752475"/>
            <a:ext cx="11915775" cy="59150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endParaRPr lang="ru-RU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Информационное обеспечение режима охраны государственной тайны в Российской Федерации включает законодательное регулирование, меры по защите сведений, составляющих государственную тайну, и использование специальных средств. Цель — исключить утечку информации, которая может нанести ущерб безопасности государства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707" y="210230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12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4326" y="571500"/>
            <a:ext cx="11687174" cy="603884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7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проблемы функционирования режима охраны государственной тайны:</a:t>
            </a:r>
            <a:endParaRPr lang="ru-RU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 доступа</a:t>
            </a:r>
            <a:r>
              <a:rPr lang="ru-RU" sz="7200">
                <a:latin typeface="Times New Roman" panose="02020603050405020304" pitchFamily="18" charset="0"/>
                <a:cs typeface="Times New Roman" panose="02020603050405020304" pitchFamily="18" charset="0"/>
              </a:rPr>
              <a:t>. Одна из важных проблем административно-правового регулирования в сфере государственной тайны — доступ должностных лиц и граждан к секретным сведениям.</a:t>
            </a:r>
          </a:p>
          <a:p>
            <a:r>
              <a:rPr lang="ru-RU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Лицензирование</a:t>
            </a:r>
            <a:r>
              <a:rPr lang="ru-RU" sz="7200">
                <a:latin typeface="Times New Roman" panose="02020603050405020304" pitchFamily="18" charset="0"/>
                <a:cs typeface="Times New Roman" panose="02020603050405020304" pitchFamily="18" charset="0"/>
              </a:rPr>
              <a:t>. Законодатель закрепил обязательный режим лицензирования деятельности, связанной с использованием сведений, составляющих государственную тайну, созданием средств защиты информации, а также с осуществлением мероприятий или оказанием услуг по защите государственной тайны.</a:t>
            </a:r>
          </a:p>
          <a:p>
            <a:r>
              <a:rPr lang="ru-RU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Кадровое голодание</a:t>
            </a:r>
            <a:r>
              <a:rPr lang="ru-RU" sz="7200">
                <a:latin typeface="Times New Roman" panose="02020603050405020304" pitchFamily="18" charset="0"/>
                <a:cs typeface="Times New Roman" panose="02020603050405020304" pitchFamily="18" charset="0"/>
              </a:rPr>
              <a:t>. Должностные лица и специалисты, работающие с государственной тайной, как правило, не обладают в полной мере определёнными знаниями в области защиты секретных сведений.</a:t>
            </a:r>
          </a:p>
          <a:p>
            <a:r>
              <a:rPr lang="ru-RU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Угрозы информационной безопасности</a:t>
            </a:r>
            <a:r>
              <a:rPr lang="ru-RU" sz="7200">
                <a:latin typeface="Times New Roman" panose="02020603050405020304" pitchFamily="18" charset="0"/>
                <a:cs typeface="Times New Roman" panose="02020603050405020304" pitchFamily="18" charset="0"/>
              </a:rPr>
              <a:t>. В условиях развития информационных технологий возникают новые риски, связанные с утечками информации и представлением недостоверных сведений как государственной тайны.</a:t>
            </a:r>
          </a:p>
          <a:p>
            <a:pPr marL="0" indent="0">
              <a:buNone/>
            </a:pPr>
            <a:r>
              <a:rPr lang="ru-RU" sz="72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ru-RU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пути решения проблем:</a:t>
            </a:r>
            <a:endParaRPr lang="ru-RU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Совершенствование законодательства</a:t>
            </a:r>
            <a:r>
              <a:rPr lang="ru-RU" sz="7200">
                <a:latin typeface="Times New Roman" panose="02020603050405020304" pitchFamily="18" charset="0"/>
                <a:cs typeface="Times New Roman" panose="02020603050405020304" pitchFamily="18" charset="0"/>
              </a:rPr>
              <a:t>. Необходимо устранять «размытость» формулировок, разъяснять положения, ужесточать проверочные мероприятия допуска и ответственность за государственную тайну. </a:t>
            </a:r>
          </a:p>
          <a:p>
            <a:r>
              <a:rPr lang="ru-RU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специальных кафедр</a:t>
            </a:r>
            <a:r>
              <a:rPr lang="ru-RU" sz="7200">
                <a:latin typeface="Times New Roman" panose="02020603050405020304" pitchFamily="18" charset="0"/>
                <a:cs typeface="Times New Roman" panose="02020603050405020304" pitchFamily="18" charset="0"/>
              </a:rPr>
              <a:t>. На базе высших учебных заведений можно открывать кафедры, которые будут заниматься подготовкой, переподготовкой и повышением квалификации сотрудников, работающих с государственной тайной. </a:t>
            </a:r>
          </a:p>
          <a:p>
            <a:r>
              <a:rPr lang="ru-RU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технологий искусственного интеллекта</a:t>
            </a:r>
            <a:r>
              <a:rPr lang="ru-RU" sz="7200">
                <a:latin typeface="Times New Roman" panose="02020603050405020304" pitchFamily="18" charset="0"/>
                <a:cs typeface="Times New Roman" panose="02020603050405020304" pitchFamily="18" charset="0"/>
              </a:rPr>
              <a:t>. Использование ИИ для анализа больших объёмов данных и выявления атипичных действий может существенно повысить эффективность охраны. </a:t>
            </a:r>
          </a:p>
          <a:p>
            <a:r>
              <a:rPr lang="ru-RU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Усиление киберзащиты</a:t>
            </a:r>
            <a:r>
              <a:rPr lang="ru-RU" sz="7200">
                <a:latin typeface="Times New Roman" panose="02020603050405020304" pitchFamily="18" charset="0"/>
                <a:cs typeface="Times New Roman" panose="02020603050405020304" pitchFamily="18" charset="0"/>
              </a:rPr>
              <a:t>. В условиях роста киберугроз необходимо развивать системы защищённости информации от несанкционированного доступа и атак. </a:t>
            </a:r>
          </a:p>
          <a:p>
            <a:r>
              <a:rPr lang="ru-RU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Межведомственное сотрудничество</a:t>
            </a:r>
            <a:r>
              <a:rPr lang="ru-RU" sz="7200">
                <a:latin typeface="Times New Roman" panose="02020603050405020304" pitchFamily="18" charset="0"/>
                <a:cs typeface="Times New Roman" panose="02020603050405020304" pitchFamily="18" charset="0"/>
              </a:rPr>
              <a:t>. Эффективная охрана государственных секретов требует активного взаимодействия между различными службами безопасности и правоохранительными органами. </a:t>
            </a:r>
          </a:p>
          <a:p>
            <a:pPr marL="0" indent="0">
              <a:buNone/>
            </a:pP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707" y="257174"/>
            <a:ext cx="1518036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611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466</Words>
  <Application>Microsoft Office PowerPoint</Application>
  <PresentationFormat>Широкоэкранный</PresentationFormat>
  <Paragraphs>116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Тема: Режим охраны государственной тайны</vt:lpstr>
      <vt:lpstr>Презентация PowerPoint</vt:lpstr>
      <vt:lpstr>Презентация PowerPoint</vt:lpstr>
      <vt:lpstr>Правовая основа режима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Информационное обеспечение режима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№30 Методы юридической психологии</dc:title>
  <dc:creator>Ренат Файзулянов</dc:creator>
  <cp:lastModifiedBy>Виталий Михальченко</cp:lastModifiedBy>
  <cp:revision>89</cp:revision>
  <dcterms:created xsi:type="dcterms:W3CDTF">2022-09-28T14:19:55Z</dcterms:created>
  <dcterms:modified xsi:type="dcterms:W3CDTF">2025-11-12T04:14:34Z</dcterms:modified>
</cp:coreProperties>
</file>